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0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45720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4A843"/>
                </a:solidFill>
                <a:latin typeface="Calibri"/>
              </a:rPr>
              <a:t>CANDIDACY PRESENTATION  · 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868680"/>
            <a:ext cx="7315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 Light"/>
              </a:rPr>
              <a:t>ESLAM ABDELAZEEM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554480"/>
            <a:ext cx="7315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D4A843"/>
                </a:solidFill>
                <a:latin typeface="Calibri Light"/>
              </a:rPr>
              <a:t>ABDELSTAR AZAM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33172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D4E8"/>
                </a:solidFill>
                <a:latin typeface="Calibri"/>
              </a:rPr>
              <a:t>Senior Software, GIS &amp; Digital Utility Engineer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880360"/>
            <a:ext cx="1097280" cy="381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3017520"/>
            <a:ext cx="6858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899BB"/>
                </a:solidFill>
                <a:latin typeface="Calibri"/>
              </a:rPr>
              <a:t>18+ years bridging electrical engineering, geospatial technology,
SCADA/ADMS, smart grid, and digital transformation across Egypt's
national electricity infrastructure.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4023360"/>
            <a:ext cx="1417320" cy="347472"/>
          </a:xfrm>
          <a:prstGeom prst="rect">
            <a:avLst/>
          </a:prstGeom>
          <a:solidFill>
            <a:srgbClr val="1A243A"/>
          </a:solidFill>
          <a:ln w="6350">
            <a:solidFill>
              <a:srgbClr val="D4A8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1960" y="4059936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D4A843"/>
                </a:solidFill>
                <a:latin typeface="Calibri"/>
              </a:rPr>
              <a:t>Power GIS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47088" y="4023360"/>
            <a:ext cx="1417320" cy="347472"/>
          </a:xfrm>
          <a:prstGeom prst="rect">
            <a:avLst/>
          </a:prstGeom>
          <a:solidFill>
            <a:srgbClr val="1A243A"/>
          </a:solidFill>
          <a:ln w="6350">
            <a:solidFill>
              <a:srgbClr val="D4A8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923288" y="4059936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D4A843"/>
                </a:solidFill>
                <a:latin typeface="Calibri"/>
              </a:rPr>
              <a:t>SCADA / ADMS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28416" y="4023360"/>
            <a:ext cx="1417320" cy="347472"/>
          </a:xfrm>
          <a:prstGeom prst="rect">
            <a:avLst/>
          </a:prstGeom>
          <a:solidFill>
            <a:srgbClr val="1A243A"/>
          </a:solidFill>
          <a:ln w="6350">
            <a:solidFill>
              <a:srgbClr val="D4A8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04616" y="4059936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D4A843"/>
                </a:solidFill>
                <a:latin typeface="Calibri"/>
              </a:rPr>
              <a:t>Smart Grid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809744" y="4023360"/>
            <a:ext cx="1417320" cy="347472"/>
          </a:xfrm>
          <a:prstGeom prst="rect">
            <a:avLst/>
          </a:prstGeom>
          <a:solidFill>
            <a:srgbClr val="1A243A"/>
          </a:solidFill>
          <a:ln w="6350">
            <a:solidFill>
              <a:srgbClr val="D4A8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85944" y="4059936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D4A843"/>
                </a:solidFill>
                <a:latin typeface="Calibri"/>
              </a:rPr>
              <a:t>Digital Utility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91072" y="4023360"/>
            <a:ext cx="1417320" cy="347472"/>
          </a:xfrm>
          <a:prstGeom prst="rect">
            <a:avLst/>
          </a:prstGeom>
          <a:solidFill>
            <a:srgbClr val="1A243A"/>
          </a:solidFill>
          <a:ln w="6350">
            <a:solidFill>
              <a:srgbClr val="D4A8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67272" y="4059936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D4A843"/>
                </a:solidFill>
                <a:latin typeface="Calibri"/>
              </a:rPr>
              <a:t>ArcGIS / ArcFM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686800" y="0"/>
            <a:ext cx="3502152" cy="6858000"/>
          </a:xfrm>
          <a:prstGeom prst="rect">
            <a:avLst/>
          </a:prstGeom>
          <a:solidFill>
            <a:srgbClr val="11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686800" y="0"/>
            <a:ext cx="12700" cy="6858000"/>
          </a:xfrm>
          <a:prstGeom prst="rect">
            <a:avLst/>
          </a:prstGeom>
          <a:solidFill>
            <a:srgbClr val="33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006840" y="1097280"/>
            <a:ext cx="2834640" cy="1280160"/>
          </a:xfrm>
          <a:prstGeom prst="rect">
            <a:avLst/>
          </a:prstGeom>
          <a:solidFill>
            <a:srgbClr val="0F1D38"/>
          </a:solidFill>
          <a:ln w="6350">
            <a:solidFill>
              <a:srgbClr val="22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06840" y="1234440"/>
            <a:ext cx="2834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D4A843"/>
                </a:solidFill>
                <a:latin typeface="Calibri Light"/>
              </a:rPr>
              <a:t>18+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06840" y="187452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8899BB"/>
                </a:solidFill>
                <a:latin typeface="Calibri"/>
              </a:rPr>
              <a:t>Years of Experience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006840" y="2560320"/>
            <a:ext cx="2834640" cy="1280160"/>
          </a:xfrm>
          <a:prstGeom prst="rect">
            <a:avLst/>
          </a:prstGeom>
          <a:solidFill>
            <a:srgbClr val="0F1D38"/>
          </a:solidFill>
          <a:ln w="6350">
            <a:solidFill>
              <a:srgbClr val="22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06840" y="2697480"/>
            <a:ext cx="2834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D4A843"/>
                </a:solidFill>
                <a:latin typeface="Calibri Light"/>
              </a:rPr>
              <a:t>6+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06840" y="333756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8899BB"/>
                </a:solidFill>
                <a:latin typeface="Calibri"/>
              </a:rPr>
              <a:t>Control Centers Delivered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006840" y="4023360"/>
            <a:ext cx="2834640" cy="1280160"/>
          </a:xfrm>
          <a:prstGeom prst="rect">
            <a:avLst/>
          </a:prstGeom>
          <a:solidFill>
            <a:srgbClr val="0F1D38"/>
          </a:solidFill>
          <a:ln w="6350">
            <a:solidFill>
              <a:srgbClr val="22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06840" y="4160520"/>
            <a:ext cx="2834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D4A843"/>
                </a:solidFill>
                <a:latin typeface="Calibri Light"/>
              </a:rPr>
              <a:t>30+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06840" y="480060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8899BB"/>
                </a:solidFill>
                <a:latin typeface="Calibri"/>
              </a:rPr>
              <a:t>Esri / ArcFM Certifications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0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" y="0"/>
            <a:ext cx="12079224" cy="1097280"/>
          </a:xfrm>
          <a:prstGeom prst="rect">
            <a:avLst/>
          </a:prstGeom>
          <a:solidFill>
            <a:srgbClr val="11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9728" y="1097280"/>
            <a:ext cx="12079224" cy="12700"/>
          </a:xfrm>
          <a:prstGeom prst="rect">
            <a:avLst/>
          </a:prstGeom>
          <a:solidFill>
            <a:srgbClr val="33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D4A843"/>
                </a:solidFill>
                <a:latin typeface="Calibri"/>
              </a:rPr>
              <a:t>PROFESSIONAL SUMMARY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1148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 Light"/>
              </a:rPr>
              <a:t>Who I Am &amp; What I Bring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347472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899BB"/>
                </a:solidFill>
                <a:latin typeface="Calibri"/>
              </a:rPr>
              <a:t>02 / 12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325880"/>
            <a:ext cx="11430000" cy="868680"/>
          </a:xfrm>
          <a:prstGeom prst="rect">
            <a:avLst/>
          </a:prstGeom>
          <a:solidFill>
            <a:srgbClr val="111D35"/>
          </a:solidFill>
          <a:ln w="6350">
            <a:solidFill>
              <a:srgbClr val="3B8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325880"/>
            <a:ext cx="50800" cy="868680"/>
          </a:xfrm>
          <a:prstGeom prst="rect">
            <a:avLst/>
          </a:prstGeom>
          <a:solidFill>
            <a:srgbClr val="3B8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402080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EF2FF"/>
                </a:solidFill>
                <a:latin typeface="Calibri"/>
              </a:rPr>
              <a:t>Senior Software, GIS &amp; Digital Utility Engineer with 18+ years of experience spanning electrical distribution networks, GIS, SCADA/ADMS, smart grid technologies, digital transformation, control center operations, and utility information systems.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286000"/>
            <a:ext cx="11430000" cy="868680"/>
          </a:xfrm>
          <a:prstGeom prst="rect">
            <a:avLst/>
          </a:prstGeom>
          <a:solidFill>
            <a:srgbClr val="111D35"/>
          </a:solidFill>
          <a:ln w="6350">
            <a:solidFill>
              <a:srgbClr val="D4A8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5760" y="2286000"/>
            <a:ext cx="50800" cy="86868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2362200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EF2FF"/>
                </a:solidFill>
                <a:latin typeface="Calibri"/>
              </a:rPr>
              <a:t>Proven ability to bridge electrical engineering, geospatial technology, operational systems, software development, and data analytics to deliver practical solutions for electricity utilities. Experienced in Python/VBA GIS automation, enterprise geodatabases, KPI monitoring frameworks, and system integration, testing, and commissioning.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246120"/>
            <a:ext cx="11430000" cy="868680"/>
          </a:xfrm>
          <a:prstGeom prst="rect">
            <a:avLst/>
          </a:prstGeom>
          <a:solidFill>
            <a:srgbClr val="111D35"/>
          </a:solidFill>
          <a:ln w="6350">
            <a:solidFill>
              <a:srgbClr val="2DD4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5760" y="3246120"/>
            <a:ext cx="50800" cy="868680"/>
          </a:xfrm>
          <a:prstGeom prst="rect">
            <a:avLst/>
          </a:prstGeom>
          <a:solidFill>
            <a:srgbClr val="2D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3322320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EF2FF"/>
                </a:solidFill>
                <a:latin typeface="Calibri"/>
              </a:rPr>
              <a:t>Strong international project exposure with Schneider Electric, Siemens, General Electric, and Esri — including FAT/SAT, smart grid deployments, and national control center programs across Egypt.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4297680"/>
            <a:ext cx="2505456" cy="301752"/>
          </a:xfrm>
          <a:prstGeom prst="rect">
            <a:avLst/>
          </a:prstGeom>
          <a:solidFill>
            <a:srgbClr val="111D35"/>
          </a:solidFill>
          <a:ln w="6350">
            <a:solidFill>
              <a:srgbClr val="D4A8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6560" y="4323080"/>
            <a:ext cx="24038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D4A843"/>
                </a:solidFill>
                <a:latin typeface="Calibri"/>
              </a:rPr>
              <a:t>GIS–SCADA/ADMS Integration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980944" y="4297680"/>
            <a:ext cx="2176272" cy="301752"/>
          </a:xfrm>
          <a:prstGeom prst="rect">
            <a:avLst/>
          </a:prstGeom>
          <a:solidFill>
            <a:srgbClr val="111D35"/>
          </a:solidFill>
          <a:ln w="6350">
            <a:solidFill>
              <a:srgbClr val="D4A8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31744" y="4323080"/>
            <a:ext cx="2074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D4A843"/>
                </a:solidFill>
                <a:latin typeface="Calibri"/>
              </a:rPr>
              <a:t>Digital Command Center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266944" y="4297680"/>
            <a:ext cx="1188719" cy="301752"/>
          </a:xfrm>
          <a:prstGeom prst="rect">
            <a:avLst/>
          </a:prstGeom>
          <a:solidFill>
            <a:srgbClr val="111D35"/>
          </a:solidFill>
          <a:ln w="6350">
            <a:solidFill>
              <a:srgbClr val="D4A8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17744" y="4323080"/>
            <a:ext cx="108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D4A843"/>
                </a:solidFill>
                <a:latin typeface="Calibri"/>
              </a:rPr>
              <a:t>Smart Grid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65391" y="4297680"/>
            <a:ext cx="2176272" cy="301752"/>
          </a:xfrm>
          <a:prstGeom prst="rect">
            <a:avLst/>
          </a:prstGeom>
          <a:solidFill>
            <a:srgbClr val="111D35"/>
          </a:solidFill>
          <a:ln w="6350">
            <a:solidFill>
              <a:srgbClr val="D4A8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16191" y="4323080"/>
            <a:ext cx="2074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D4A843"/>
                </a:solidFill>
                <a:latin typeface="Calibri"/>
              </a:rPr>
              <a:t>Enterprise Geodatabase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851391" y="4297680"/>
            <a:ext cx="1600200" cy="301752"/>
          </a:xfrm>
          <a:prstGeom prst="rect">
            <a:avLst/>
          </a:prstGeom>
          <a:solidFill>
            <a:srgbClr val="111D35"/>
          </a:solidFill>
          <a:ln w="6350">
            <a:solidFill>
              <a:srgbClr val="D4A8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02191" y="4323080"/>
            <a:ext cx="149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D4A843"/>
                </a:solidFill>
                <a:latin typeface="Calibri"/>
              </a:rPr>
              <a:t>KPI &amp; Analytics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561319" y="4297680"/>
            <a:ext cx="2258568" cy="301752"/>
          </a:xfrm>
          <a:prstGeom prst="rect">
            <a:avLst/>
          </a:prstGeom>
          <a:solidFill>
            <a:srgbClr val="111D35"/>
          </a:solidFill>
          <a:ln w="6350">
            <a:solidFill>
              <a:srgbClr val="D4A8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612119" y="4323080"/>
            <a:ext cx="21569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D4A843"/>
                </a:solidFill>
                <a:latin typeface="Calibri"/>
              </a:rPr>
              <a:t>FAT / SAT Commissioning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0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" y="0"/>
            <a:ext cx="12079224" cy="1097280"/>
          </a:xfrm>
          <a:prstGeom prst="rect">
            <a:avLst/>
          </a:prstGeom>
          <a:solidFill>
            <a:srgbClr val="11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9728" y="1097280"/>
            <a:ext cx="12079224" cy="12700"/>
          </a:xfrm>
          <a:prstGeom prst="rect">
            <a:avLst/>
          </a:prstGeom>
          <a:solidFill>
            <a:srgbClr val="33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D4A843"/>
                </a:solidFill>
                <a:latin typeface="Calibri"/>
              </a:rPr>
              <a:t>ACADEMIC QUALIFICATIONS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1148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 Light"/>
              </a:rPr>
              <a:t>Education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347472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899BB"/>
                </a:solidFill>
                <a:latin typeface="Calibri"/>
              </a:rPr>
              <a:t>03 / 12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371600"/>
            <a:ext cx="11430000" cy="1554480"/>
          </a:xfrm>
          <a:prstGeom prst="rect">
            <a:avLst/>
          </a:prstGeom>
          <a:solidFill>
            <a:srgbClr val="111D35"/>
          </a:solidFill>
          <a:ln w="6350">
            <a:solidFill>
              <a:srgbClr val="D4A8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463040"/>
            <a:ext cx="640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 i="0">
                <a:solidFill>
                  <a:srgbClr val="FFFFFF"/>
                </a:solidFill>
                <a:latin typeface="Calibri"/>
              </a:rPr>
              <a:t>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14630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 Light"/>
              </a:rPr>
              <a:t>Bachelor of Science in Computer &amp; Systems Engineering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1874519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D4E8"/>
                </a:solidFill>
                <a:latin typeface="Calibri"/>
              </a:rPr>
              <a:t>Faculty of Engineering — Al-Azhar University, Cairo  |  2002 – 2007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21945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99BB"/>
                </a:solidFill>
                <a:latin typeface="Calibri"/>
              </a:rPr>
              <a:t>Graduation Project: Electronic Dictionary  ·  Grade: Good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31546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D4A843"/>
                </a:solidFill>
                <a:latin typeface="Calibri"/>
              </a:rPr>
              <a:t>CORE ENGINEERING FOUNDATIONS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474720"/>
            <a:ext cx="11430000" cy="12700"/>
          </a:xfrm>
          <a:prstGeom prst="rect">
            <a:avLst/>
          </a:prstGeom>
          <a:solidFill>
            <a:srgbClr val="33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5760" y="3611880"/>
            <a:ext cx="1828800" cy="1005840"/>
          </a:xfrm>
          <a:prstGeom prst="rect">
            <a:avLst/>
          </a:prstGeom>
          <a:solidFill>
            <a:srgbClr val="0F1B32"/>
          </a:solidFill>
          <a:ln w="6350">
            <a:solidFill>
              <a:srgbClr val="22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3657600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Calibri"/>
              </a:rPr>
              <a:t>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" y="4114800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8899BB"/>
                </a:solidFill>
                <a:latin typeface="Calibri"/>
              </a:rPr>
              <a:t>Electrical Systems Engineering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267712" y="3611880"/>
            <a:ext cx="1828800" cy="1005840"/>
          </a:xfrm>
          <a:prstGeom prst="rect">
            <a:avLst/>
          </a:prstGeom>
          <a:solidFill>
            <a:srgbClr val="0F1B32"/>
          </a:solidFill>
          <a:ln w="6350">
            <a:solidFill>
              <a:srgbClr val="22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907792" y="3657600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Calibri"/>
              </a:rPr>
              <a:t>💻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40864" y="4114800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8899BB"/>
                </a:solidFill>
                <a:latin typeface="Calibri"/>
              </a:rPr>
              <a:t>Computer &amp; Software Systems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69664" y="3611880"/>
            <a:ext cx="1828800" cy="1005840"/>
          </a:xfrm>
          <a:prstGeom prst="rect">
            <a:avLst/>
          </a:prstGeom>
          <a:solidFill>
            <a:srgbClr val="0F1B32"/>
          </a:solidFill>
          <a:ln w="6350">
            <a:solidFill>
              <a:srgbClr val="22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09744" y="3657600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Calibri"/>
              </a:rPr>
              <a:t>🗄️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42816" y="4114800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8899BB"/>
                </a:solidFill>
                <a:latin typeface="Calibri"/>
              </a:rPr>
              <a:t>Database &amp; Information Systems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71616" y="3611880"/>
            <a:ext cx="1828800" cy="1005840"/>
          </a:xfrm>
          <a:prstGeom prst="rect">
            <a:avLst/>
          </a:prstGeom>
          <a:solidFill>
            <a:srgbClr val="0F1B32"/>
          </a:solidFill>
          <a:ln w="6350">
            <a:solidFill>
              <a:srgbClr val="22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11696" y="3657600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Calibri"/>
              </a:rPr>
              <a:t>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44768" y="4114800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8899BB"/>
                </a:solidFill>
                <a:latin typeface="Calibri"/>
              </a:rPr>
              <a:t>Network &amp; Infrastructure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973568" y="3611880"/>
            <a:ext cx="1828800" cy="1005840"/>
          </a:xfrm>
          <a:prstGeom prst="rect">
            <a:avLst/>
          </a:prstGeom>
          <a:solidFill>
            <a:srgbClr val="0F1B32"/>
          </a:solidFill>
          <a:ln w="6350">
            <a:solidFill>
              <a:srgbClr val="22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13648" y="3657600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Calibri"/>
              </a:rPr>
              <a:t>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46720" y="4114800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8899BB"/>
                </a:solidFill>
                <a:latin typeface="Calibri"/>
              </a:rPr>
              <a:t>Systems Analysis &amp; Design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875520" y="3611880"/>
            <a:ext cx="1828800" cy="1005840"/>
          </a:xfrm>
          <a:prstGeom prst="rect">
            <a:avLst/>
          </a:prstGeom>
          <a:solidFill>
            <a:srgbClr val="0F1B32"/>
          </a:solidFill>
          <a:ln w="6350">
            <a:solidFill>
              <a:srgbClr val="22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515600" y="3657600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Calibri"/>
              </a:rPr>
              <a:t>📊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948672" y="4114800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8899BB"/>
                </a:solidFill>
                <a:latin typeface="Calibri"/>
              </a:rPr>
              <a:t>Data Structures &amp; Algorithms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0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" y="0"/>
            <a:ext cx="12079224" cy="1097280"/>
          </a:xfrm>
          <a:prstGeom prst="rect">
            <a:avLst/>
          </a:prstGeom>
          <a:solidFill>
            <a:srgbClr val="11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9728" y="1097280"/>
            <a:ext cx="12079224" cy="12700"/>
          </a:xfrm>
          <a:prstGeom prst="rect">
            <a:avLst/>
          </a:prstGeom>
          <a:solidFill>
            <a:srgbClr val="33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D4A843"/>
                </a:solidFill>
                <a:latin typeface="Calibri"/>
              </a:rPr>
              <a:t>PROFESSIONAL EXPERIENCE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1148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 Light"/>
              </a:rPr>
              <a:t>Egyptian Electricity Holding Company (EEHC)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347472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899BB"/>
                </a:solidFill>
                <a:latin typeface="Calibri"/>
              </a:rPr>
              <a:t>04 / 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41732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D4E8"/>
                </a:solidFill>
                <a:latin typeface="Calibri"/>
              </a:rPr>
              <a:t>2024 – Present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1417320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Digital Command Center Engineer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057400" y="1508760"/>
            <a:ext cx="25400" cy="1188720"/>
          </a:xfrm>
          <a:prstGeom prst="rect">
            <a:avLst/>
          </a:prstGeom>
          <a:solidFill>
            <a:srgbClr val="00D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993392" y="1527048"/>
            <a:ext cx="114300" cy="114300"/>
          </a:xfrm>
          <a:prstGeom prst="rect">
            <a:avLst/>
          </a:prstGeom>
          <a:solidFill>
            <a:srgbClr val="00D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331720" y="1864868"/>
            <a:ext cx="63500" cy="63500"/>
          </a:xfrm>
          <a:prstGeom prst="rect">
            <a:avLst/>
          </a:prstGeom>
          <a:solidFill>
            <a:srgbClr val="3B8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514600" y="180136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899BB"/>
                </a:solidFill>
                <a:latin typeface="Calibri"/>
              </a:rPr>
              <a:t>Monitor &amp; analyze operational/performance indicators for distribution companies across Egypt via the National Digital Command Center.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331720" y="2139188"/>
            <a:ext cx="63500" cy="63500"/>
          </a:xfrm>
          <a:prstGeom prst="rect">
            <a:avLst/>
          </a:prstGeom>
          <a:solidFill>
            <a:srgbClr val="3B8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14600" y="207568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899BB"/>
                </a:solidFill>
                <a:latin typeface="Calibri"/>
              </a:rPr>
              <a:t>Develop and maintain KPI monitoring frameworks, dashboards, analytical reports &amp; performance indicators.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331720" y="2413508"/>
            <a:ext cx="63500" cy="63500"/>
          </a:xfrm>
          <a:prstGeom prst="rect">
            <a:avLst/>
          </a:prstGeom>
          <a:solidFill>
            <a:srgbClr val="3B8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514600" y="235000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899BB"/>
                </a:solidFill>
                <a:latin typeface="Calibri"/>
              </a:rPr>
              <a:t>Analyze operational, technical, and commercial data to identify trends and improvement opportunities.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31720" y="2687828"/>
            <a:ext cx="63500" cy="63500"/>
          </a:xfrm>
          <a:prstGeom prst="rect">
            <a:avLst/>
          </a:prstGeom>
          <a:solidFill>
            <a:srgbClr val="3B8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514600" y="26243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899BB"/>
                </a:solidFill>
                <a:latin typeface="Calibri"/>
              </a:rPr>
              <a:t>Support enterprise-wide digital transformation through data integration, visualization &amp; automated reporting.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3081528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4A843"/>
                </a:solidFill>
                <a:latin typeface="Calibri"/>
              </a:rPr>
              <a:t>2021 – 2024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86000" y="3081528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Senior Power GIS Engineer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057400" y="3172968"/>
            <a:ext cx="25400" cy="118872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993392" y="3191256"/>
            <a:ext cx="114300" cy="1143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331720" y="3529076"/>
            <a:ext cx="63500" cy="63500"/>
          </a:xfrm>
          <a:prstGeom prst="rect">
            <a:avLst/>
          </a:prstGeom>
          <a:solidFill>
            <a:srgbClr val="3B8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514600" y="3465576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899BB"/>
                </a:solidFill>
                <a:latin typeface="Calibri"/>
              </a:rPr>
              <a:t>Led GIS enterprise system design, data migration, and quality assurance for national distribution control center projects.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331720" y="3803396"/>
            <a:ext cx="63500" cy="63500"/>
          </a:xfrm>
          <a:prstGeom prst="rect">
            <a:avLst/>
          </a:prstGeom>
          <a:solidFill>
            <a:srgbClr val="3B8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514600" y="3739896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899BB"/>
                </a:solidFill>
                <a:latin typeface="Calibri"/>
              </a:rPr>
              <a:t>Managed GIS–SCADA/ADMS integration, network model development, and end-to-end system commissioning.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331720" y="4077716"/>
            <a:ext cx="63500" cy="63500"/>
          </a:xfrm>
          <a:prstGeom prst="rect">
            <a:avLst/>
          </a:prstGeom>
          <a:solidFill>
            <a:srgbClr val="3B8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514600" y="4014216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899BB"/>
                </a:solidFill>
                <a:latin typeface="Calibri"/>
              </a:rPr>
              <a:t>Developed GIS automation workflows and supervised FAT &amp; SAT activities for multiple control centers.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331720" y="4352036"/>
            <a:ext cx="63500" cy="63500"/>
          </a:xfrm>
          <a:prstGeom prst="rect">
            <a:avLst/>
          </a:prstGeom>
          <a:solidFill>
            <a:srgbClr val="3B8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514600" y="4288536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899BB"/>
                </a:solidFill>
                <a:latin typeface="Calibri"/>
              </a:rPr>
              <a:t>Coordinated with Schneider Electric, Siemens, and GE for system implementation and delivery.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0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" y="0"/>
            <a:ext cx="12079224" cy="1097280"/>
          </a:xfrm>
          <a:prstGeom prst="rect">
            <a:avLst/>
          </a:prstGeom>
          <a:solidFill>
            <a:srgbClr val="11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9728" y="1097280"/>
            <a:ext cx="12079224" cy="12700"/>
          </a:xfrm>
          <a:prstGeom prst="rect">
            <a:avLst/>
          </a:prstGeom>
          <a:solidFill>
            <a:srgbClr val="33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D4A843"/>
                </a:solidFill>
                <a:latin typeface="Calibri"/>
              </a:rPr>
              <a:t>PROFESSIONAL EXPERIENCE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1148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 Light"/>
              </a:rPr>
              <a:t>GIS Engineering &amp; Operations (2008–2021)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347472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899BB"/>
                </a:solidFill>
                <a:latin typeface="Calibri"/>
              </a:rPr>
              <a:t>05 / 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41732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4A843"/>
                </a:solidFill>
                <a:latin typeface="Calibri"/>
              </a:rPr>
              <a:t>2015 – 2021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1417320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GIS Engineer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057400" y="1508760"/>
            <a:ext cx="25400" cy="118872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993392" y="1527048"/>
            <a:ext cx="114300" cy="1143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331720" y="1864868"/>
            <a:ext cx="63500" cy="63500"/>
          </a:xfrm>
          <a:prstGeom prst="rect">
            <a:avLst/>
          </a:prstGeom>
          <a:solidFill>
            <a:srgbClr val="3B8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514600" y="180136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899BB"/>
                </a:solidFill>
                <a:latin typeface="Calibri"/>
              </a:rPr>
              <a:t>Developed GIS automation tools using Python and VBA, improving data-processing efficiency.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331720" y="2139188"/>
            <a:ext cx="63500" cy="63500"/>
          </a:xfrm>
          <a:prstGeom prst="rect">
            <a:avLst/>
          </a:prstGeom>
          <a:solidFill>
            <a:srgbClr val="3B8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14600" y="207568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899BB"/>
                </a:solidFill>
                <a:latin typeface="Calibri"/>
              </a:rPr>
              <a:t>Managed and maintained geospatial databases of electrical distribution network assets.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331720" y="2413508"/>
            <a:ext cx="63500" cy="63500"/>
          </a:xfrm>
          <a:prstGeom prst="rect">
            <a:avLst/>
          </a:prstGeom>
          <a:solidFill>
            <a:srgbClr val="3B8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514600" y="235000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899BB"/>
                </a:solidFill>
                <a:latin typeface="Calibri"/>
              </a:rPr>
              <a:t>Implemented GIS workflows, data validation, and enterprise geodatabase management.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31720" y="2687828"/>
            <a:ext cx="63500" cy="63500"/>
          </a:xfrm>
          <a:prstGeom prst="rect">
            <a:avLst/>
          </a:prstGeom>
          <a:solidFill>
            <a:srgbClr val="3B8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514600" y="26243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899BB"/>
                </a:solidFill>
                <a:latin typeface="Calibri"/>
              </a:rPr>
              <a:t>Contributed to GIS–SCADA/ADMS integration and control center modernization initiatives.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306324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B8BEB"/>
                </a:solidFill>
                <a:latin typeface="Calibri"/>
              </a:rPr>
              <a:t>2011 – 2015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86000" y="3063240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Operations Engineer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057400" y="3154680"/>
            <a:ext cx="25400" cy="640080"/>
          </a:xfrm>
          <a:prstGeom prst="rect">
            <a:avLst/>
          </a:prstGeom>
          <a:solidFill>
            <a:srgbClr val="3B8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993392" y="3172968"/>
            <a:ext cx="114300" cy="114300"/>
          </a:xfrm>
          <a:prstGeom prst="rect">
            <a:avLst/>
          </a:prstGeom>
          <a:solidFill>
            <a:srgbClr val="3B8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331720" y="3510788"/>
            <a:ext cx="63500" cy="63500"/>
          </a:xfrm>
          <a:prstGeom prst="rect">
            <a:avLst/>
          </a:prstGeom>
          <a:solidFill>
            <a:srgbClr val="3B8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514600" y="344728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899BB"/>
                </a:solidFill>
                <a:latin typeface="Calibri"/>
              </a:rPr>
              <a:t>Managed day-to-day operation of electrical distribution networks and control room activities.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331720" y="3785108"/>
            <a:ext cx="63500" cy="63500"/>
          </a:xfrm>
          <a:prstGeom prst="rect">
            <a:avLst/>
          </a:prstGeom>
          <a:solidFill>
            <a:srgbClr val="3B8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514600" y="372160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899BB"/>
                </a:solidFill>
                <a:latin typeface="Calibri"/>
              </a:rPr>
              <a:t>Planned switching operations, outage management, emergency response &amp; restoration.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416052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DD48A"/>
                </a:solidFill>
                <a:latin typeface="Calibri"/>
              </a:rPr>
              <a:t>2008 – 2011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86000" y="4160520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Electrical Engineer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057400" y="4251960"/>
            <a:ext cx="25400" cy="640080"/>
          </a:xfrm>
          <a:prstGeom prst="rect">
            <a:avLst/>
          </a:prstGeom>
          <a:solidFill>
            <a:srgbClr val="2D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993392" y="4270248"/>
            <a:ext cx="114300" cy="114300"/>
          </a:xfrm>
          <a:prstGeom prst="rect">
            <a:avLst/>
          </a:prstGeom>
          <a:solidFill>
            <a:srgbClr val="2D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331720" y="4608068"/>
            <a:ext cx="63500" cy="63500"/>
          </a:xfrm>
          <a:prstGeom prst="rect">
            <a:avLst/>
          </a:prstGeom>
          <a:solidFill>
            <a:srgbClr val="3B8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514600" y="454456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899BB"/>
                </a:solidFill>
                <a:latin typeface="Calibri"/>
              </a:rPr>
              <a:t>Supported operation, maintenance, and development of electrical distribution networks.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331720" y="4882388"/>
            <a:ext cx="63500" cy="63500"/>
          </a:xfrm>
          <a:prstGeom prst="rect">
            <a:avLst/>
          </a:prstGeom>
          <a:solidFill>
            <a:srgbClr val="3B8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514600" y="481888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899BB"/>
                </a:solidFill>
                <a:latin typeface="Calibri"/>
              </a:rPr>
              <a:t>Participated in network improvement initiatives and utility modernization projects.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5257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D4E8"/>
                </a:solidFill>
                <a:latin typeface="Calibri"/>
              </a:rPr>
              <a:t>2009 – 2015  (Part-Time)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86000" y="5257800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Web Developer  —  City Light Construction &amp; Development Company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331720" y="5705348"/>
            <a:ext cx="63500" cy="63500"/>
          </a:xfrm>
          <a:prstGeom prst="rect">
            <a:avLst/>
          </a:prstGeom>
          <a:solidFill>
            <a:srgbClr val="00D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514600" y="564184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899BB"/>
                </a:solidFill>
                <a:latin typeface="Calibri"/>
              </a:rPr>
              <a:t>Designed, developed, and maintained websites using PHP and MySQL.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331720" y="5979668"/>
            <a:ext cx="63500" cy="63500"/>
          </a:xfrm>
          <a:prstGeom prst="rect">
            <a:avLst/>
          </a:prstGeom>
          <a:solidFill>
            <a:srgbClr val="00D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514600" y="591616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899BB"/>
                </a:solidFill>
                <a:latin typeface="Calibri"/>
              </a:rPr>
              <a:t>Designed relational database structures and implemented CMS solutions.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0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" y="0"/>
            <a:ext cx="12079224" cy="1097280"/>
          </a:xfrm>
          <a:prstGeom prst="rect">
            <a:avLst/>
          </a:prstGeom>
          <a:solidFill>
            <a:srgbClr val="11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9728" y="1097280"/>
            <a:ext cx="12079224" cy="12700"/>
          </a:xfrm>
          <a:prstGeom prst="rect">
            <a:avLst/>
          </a:prstGeom>
          <a:solidFill>
            <a:srgbClr val="33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D4A843"/>
                </a:solidFill>
                <a:latin typeface="Calibri"/>
              </a:rPr>
              <a:t>MAJOR PROJECTS &amp; INTERNATIONAL EXPOSURE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1148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 Light"/>
              </a:rPr>
              <a:t>Key Deployments &amp; Contributions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347472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899BB"/>
                </a:solidFill>
                <a:latin typeface="Calibri"/>
              </a:rPr>
              <a:t>06 / 12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417320"/>
            <a:ext cx="5623560" cy="1463040"/>
          </a:xfrm>
          <a:prstGeom prst="rect">
            <a:avLst/>
          </a:prstGeom>
          <a:solidFill>
            <a:srgbClr val="111D35"/>
          </a:solidFill>
          <a:ln w="6350">
            <a:solidFill>
              <a:srgbClr val="00D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417320"/>
            <a:ext cx="50800" cy="1463040"/>
          </a:xfrm>
          <a:prstGeom prst="rect">
            <a:avLst/>
          </a:prstGeom>
          <a:solidFill>
            <a:srgbClr val="00D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2760" y="1518920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D4E8"/>
                </a:solidFill>
                <a:latin typeface="Calibri"/>
              </a:rPr>
              <a:t>National Digital Command Center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2760" y="1925320"/>
            <a:ext cx="5303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899BB"/>
                </a:solidFill>
                <a:latin typeface="Calibri"/>
              </a:rPr>
              <a:t>Performance monitoring &amp; analytics for distribution companies nationwide (EEHC).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1417320"/>
            <a:ext cx="5623560" cy="1463040"/>
          </a:xfrm>
          <a:prstGeom prst="rect">
            <a:avLst/>
          </a:prstGeom>
          <a:solidFill>
            <a:srgbClr val="111D35"/>
          </a:solidFill>
          <a:ln w="6350">
            <a:solidFill>
              <a:srgbClr val="D4A8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1417320"/>
            <a:ext cx="50800" cy="146304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99200" y="1518920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4A843"/>
                </a:solidFill>
                <a:latin typeface="Calibri"/>
              </a:rPr>
              <a:t>Distribution Control Centers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99200" y="1925320"/>
            <a:ext cx="5303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899BB"/>
                </a:solidFill>
                <a:latin typeface="Calibri"/>
              </a:rPr>
              <a:t>GIS data prep, integration, testing, validation &amp; commissioning for 6 control centers across Egypt.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063240"/>
            <a:ext cx="5623560" cy="1463040"/>
          </a:xfrm>
          <a:prstGeom prst="rect">
            <a:avLst/>
          </a:prstGeom>
          <a:solidFill>
            <a:srgbClr val="111D35"/>
          </a:solidFill>
          <a:ln w="6350">
            <a:solidFill>
              <a:srgbClr val="2DD4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5760" y="3063240"/>
            <a:ext cx="50800" cy="1463040"/>
          </a:xfrm>
          <a:prstGeom prst="rect">
            <a:avLst/>
          </a:prstGeom>
          <a:solidFill>
            <a:srgbClr val="2D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2760" y="3164840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DD48A"/>
                </a:solidFill>
                <a:latin typeface="Calibri"/>
              </a:rPr>
              <a:t>JICA / Siemens Project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2760" y="3571240"/>
            <a:ext cx="5303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899BB"/>
                </a:solidFill>
                <a:latin typeface="Calibri"/>
              </a:rPr>
              <a:t>FAT activities for North Delta Distribution Company — collaboration with JICA and Siemens, Germany.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72200" y="3063240"/>
            <a:ext cx="5623560" cy="1463040"/>
          </a:xfrm>
          <a:prstGeom prst="rect">
            <a:avLst/>
          </a:prstGeom>
          <a:solidFill>
            <a:srgbClr val="111D35"/>
          </a:solidFill>
          <a:ln w="6350">
            <a:solidFill>
              <a:srgbClr val="3B8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72200" y="3063240"/>
            <a:ext cx="50800" cy="1463040"/>
          </a:xfrm>
          <a:prstGeom prst="rect">
            <a:avLst/>
          </a:prstGeom>
          <a:solidFill>
            <a:srgbClr val="3B8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99200" y="3164840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B8BEB"/>
                </a:solidFill>
                <a:latin typeface="Calibri"/>
              </a:rPr>
              <a:t>GIS–ADMS Integration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99200" y="3571240"/>
            <a:ext cx="5303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899BB"/>
                </a:solidFill>
                <a:latin typeface="Calibri"/>
              </a:rPr>
              <a:t>Specialized training &amp; delivery with Schneider Electric (Dubai) and GE SCADA/ADMS knowledge transfer.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4709160"/>
            <a:ext cx="5623560" cy="1463040"/>
          </a:xfrm>
          <a:prstGeom prst="rect">
            <a:avLst/>
          </a:prstGeom>
          <a:solidFill>
            <a:srgbClr val="111D35"/>
          </a:solidFill>
          <a:ln w="6350">
            <a:solidFill>
              <a:srgbClr val="00D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65760" y="4709160"/>
            <a:ext cx="50800" cy="1463040"/>
          </a:xfrm>
          <a:prstGeom prst="rect">
            <a:avLst/>
          </a:prstGeom>
          <a:solidFill>
            <a:srgbClr val="00D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92760" y="4810760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D4E8"/>
                </a:solidFill>
                <a:latin typeface="Calibri"/>
              </a:rPr>
              <a:t>Smart Grid Field Deployment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2760" y="5217160"/>
            <a:ext cx="5303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899BB"/>
                </a:solidFill>
                <a:latin typeface="Calibri"/>
              </a:rPr>
              <a:t>Supervised Smart RMU and RTU installations as part of national smart grid modernization programs.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72200" y="4709160"/>
            <a:ext cx="5623560" cy="1463040"/>
          </a:xfrm>
          <a:prstGeom prst="rect">
            <a:avLst/>
          </a:prstGeom>
          <a:solidFill>
            <a:srgbClr val="111D35"/>
          </a:solidFill>
          <a:ln w="6350">
            <a:solidFill>
              <a:srgbClr val="8899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172200" y="4709160"/>
            <a:ext cx="50800" cy="1463040"/>
          </a:xfrm>
          <a:prstGeom prst="rect">
            <a:avLst/>
          </a:prstGeom>
          <a:solidFill>
            <a:srgbClr val="8899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99200" y="4810760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899BB"/>
                </a:solidFill>
                <a:latin typeface="Calibri"/>
              </a:rPr>
              <a:t>Web Development (Part-Time)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99200" y="5217160"/>
            <a:ext cx="5303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899BB"/>
                </a:solidFill>
                <a:latin typeface="Calibri"/>
              </a:rPr>
              <a:t>PHP/MySQL web applications, CMS solutions &amp; database design for City Light (2009–2015).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0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" y="0"/>
            <a:ext cx="12079224" cy="1097280"/>
          </a:xfrm>
          <a:prstGeom prst="rect">
            <a:avLst/>
          </a:prstGeom>
          <a:solidFill>
            <a:srgbClr val="11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9728" y="1097280"/>
            <a:ext cx="12079224" cy="12700"/>
          </a:xfrm>
          <a:prstGeom prst="rect">
            <a:avLst/>
          </a:prstGeom>
          <a:solidFill>
            <a:srgbClr val="33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D4A843"/>
                </a:solidFill>
                <a:latin typeface="Calibri"/>
              </a:rPr>
              <a:t>CORE COMPETENCIES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1148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 Light"/>
              </a:rPr>
              <a:t>Areas of Expertise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347472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899BB"/>
                </a:solidFill>
                <a:latin typeface="Calibri"/>
              </a:rPr>
              <a:t>07 / 12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417320"/>
            <a:ext cx="2834640" cy="1143000"/>
          </a:xfrm>
          <a:prstGeom prst="rect">
            <a:avLst/>
          </a:prstGeom>
          <a:solidFill>
            <a:srgbClr val="111D35"/>
          </a:solidFill>
          <a:ln w="6350">
            <a:solidFill>
              <a:srgbClr val="22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54480" y="1490472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  <a:latin typeface="Calibri"/>
              </a:rPr>
              <a:t>🗺️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1960" y="1965960"/>
            <a:ext cx="2682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99BB"/>
                </a:solidFill>
                <a:latin typeface="Calibri"/>
              </a:rPr>
              <a:t>Utility GIS &amp; Geospatial Systems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37560" y="1417320"/>
            <a:ext cx="2834640" cy="1143000"/>
          </a:xfrm>
          <a:prstGeom prst="rect">
            <a:avLst/>
          </a:prstGeom>
          <a:solidFill>
            <a:srgbClr val="111D35"/>
          </a:solidFill>
          <a:ln w="6350">
            <a:solidFill>
              <a:srgbClr val="22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280" y="1490472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  <a:latin typeface="Calibri"/>
              </a:rPr>
              <a:t>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13760" y="1965960"/>
            <a:ext cx="2682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99BB"/>
                </a:solidFill>
                <a:latin typeface="Calibri"/>
              </a:rPr>
              <a:t>Electrical Distribution Networks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60" y="1417320"/>
            <a:ext cx="2834640" cy="1143000"/>
          </a:xfrm>
          <a:prstGeom prst="rect">
            <a:avLst/>
          </a:prstGeom>
          <a:solidFill>
            <a:srgbClr val="111D35"/>
          </a:solidFill>
          <a:ln w="6350">
            <a:solidFill>
              <a:srgbClr val="22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0" y="1490472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  <a:latin typeface="Calibri"/>
              </a:rPr>
              <a:t>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85560" y="1965960"/>
            <a:ext cx="2682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99BB"/>
                </a:solidFill>
                <a:latin typeface="Calibri"/>
              </a:rPr>
              <a:t>SCADA / ADMS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281160" y="1417320"/>
            <a:ext cx="2834640" cy="1143000"/>
          </a:xfrm>
          <a:prstGeom prst="rect">
            <a:avLst/>
          </a:prstGeom>
          <a:solidFill>
            <a:srgbClr val="111D35"/>
          </a:solidFill>
          <a:ln w="6350">
            <a:solidFill>
              <a:srgbClr val="22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69880" y="1490472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  <a:latin typeface="Calibri"/>
              </a:rPr>
              <a:t>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57360" y="1965960"/>
            <a:ext cx="2682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99BB"/>
                </a:solidFill>
                <a:latin typeface="Calibri"/>
              </a:rPr>
              <a:t>GIS–SCADA/ADMS Integration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2697480"/>
            <a:ext cx="2834640" cy="1143000"/>
          </a:xfrm>
          <a:prstGeom prst="rect">
            <a:avLst/>
          </a:prstGeom>
          <a:solidFill>
            <a:srgbClr val="111D35"/>
          </a:solidFill>
          <a:ln w="6350">
            <a:solidFill>
              <a:srgbClr val="22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554480" y="2770632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  <a:latin typeface="Calibri"/>
              </a:rPr>
              <a:t>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1960" y="3246120"/>
            <a:ext cx="2682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99BB"/>
                </a:solidFill>
                <a:latin typeface="Calibri"/>
              </a:rPr>
              <a:t>Smart Grid &amp; Digital Utility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337560" y="2697480"/>
            <a:ext cx="2834640" cy="1143000"/>
          </a:xfrm>
          <a:prstGeom prst="rect">
            <a:avLst/>
          </a:prstGeom>
          <a:solidFill>
            <a:srgbClr val="111D35"/>
          </a:solidFill>
          <a:ln w="6350">
            <a:solidFill>
              <a:srgbClr val="22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26280" y="2770632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  <a:latin typeface="Calibri"/>
              </a:rPr>
              <a:t>🖥️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13760" y="3246120"/>
            <a:ext cx="2682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99BB"/>
                </a:solidFill>
                <a:latin typeface="Calibri"/>
              </a:rPr>
              <a:t>Digital Command &amp; Control Centers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09360" y="2697480"/>
            <a:ext cx="2834640" cy="1143000"/>
          </a:xfrm>
          <a:prstGeom prst="rect">
            <a:avLst/>
          </a:prstGeom>
          <a:solidFill>
            <a:srgbClr val="111D35"/>
          </a:solidFill>
          <a:ln w="6350">
            <a:solidFill>
              <a:srgbClr val="22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98080" y="2770632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  <a:latin typeface="Calibri"/>
              </a:rPr>
              <a:t>🗄️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85560" y="3246120"/>
            <a:ext cx="2682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99BB"/>
                </a:solidFill>
                <a:latin typeface="Calibri"/>
              </a:rPr>
              <a:t>ArcGIS Enterprise &amp; ArcFM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281160" y="2697480"/>
            <a:ext cx="2834640" cy="1143000"/>
          </a:xfrm>
          <a:prstGeom prst="rect">
            <a:avLst/>
          </a:prstGeom>
          <a:solidFill>
            <a:srgbClr val="111D35"/>
          </a:solidFill>
          <a:ln w="6350">
            <a:solidFill>
              <a:srgbClr val="22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469880" y="2770632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  <a:latin typeface="Calibri"/>
              </a:rPr>
              <a:t>✅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57360" y="3246120"/>
            <a:ext cx="2682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99BB"/>
                </a:solidFill>
                <a:latin typeface="Calibri"/>
              </a:rPr>
              <a:t>GIS Data Management &amp; Quality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3977640"/>
            <a:ext cx="2834640" cy="1143000"/>
          </a:xfrm>
          <a:prstGeom prst="rect">
            <a:avLst/>
          </a:prstGeom>
          <a:solidFill>
            <a:srgbClr val="111D35"/>
          </a:solidFill>
          <a:ln w="6350">
            <a:solidFill>
              <a:srgbClr val="22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554480" y="4050792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  <a:latin typeface="Calibri"/>
              </a:rPr>
              <a:t>🐍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1960" y="4526280"/>
            <a:ext cx="2682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99BB"/>
                </a:solidFill>
                <a:latin typeface="Calibri"/>
              </a:rPr>
              <a:t>Python &amp; VBA Automation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337560" y="3977640"/>
            <a:ext cx="2834640" cy="1143000"/>
          </a:xfrm>
          <a:prstGeom prst="rect">
            <a:avLst/>
          </a:prstGeom>
          <a:solidFill>
            <a:srgbClr val="111D35"/>
          </a:solidFill>
          <a:ln w="6350">
            <a:solidFill>
              <a:srgbClr val="22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26280" y="4050792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  <a:latin typeface="Calibri"/>
              </a:rPr>
              <a:t>📊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413760" y="4526280"/>
            <a:ext cx="2682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99BB"/>
                </a:solidFill>
                <a:latin typeface="Calibri"/>
              </a:rPr>
              <a:t>KPI &amp; Performance Monitoring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09360" y="3977640"/>
            <a:ext cx="2834640" cy="1143000"/>
          </a:xfrm>
          <a:prstGeom prst="rect">
            <a:avLst/>
          </a:prstGeom>
          <a:solidFill>
            <a:srgbClr val="111D35"/>
          </a:solidFill>
          <a:ln w="6350">
            <a:solidFill>
              <a:srgbClr val="22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498080" y="4050792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  <a:latin typeface="Calibri"/>
              </a:rPr>
              <a:t>🔬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85560" y="4526280"/>
            <a:ext cx="2682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99BB"/>
                </a:solidFill>
                <a:latin typeface="Calibri"/>
              </a:rPr>
              <a:t>FAT, SAT &amp; Commissioning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281160" y="3977640"/>
            <a:ext cx="2834640" cy="1143000"/>
          </a:xfrm>
          <a:prstGeom prst="rect">
            <a:avLst/>
          </a:prstGeom>
          <a:solidFill>
            <a:srgbClr val="111D35"/>
          </a:solidFill>
          <a:ln w="6350">
            <a:solidFill>
              <a:srgbClr val="22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469880" y="4050792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  <a:latin typeface="Calibri"/>
              </a:rPr>
              <a:t>🌍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57360" y="4526280"/>
            <a:ext cx="2682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99BB"/>
                </a:solidFill>
                <a:latin typeface="Calibri"/>
              </a:rPr>
              <a:t>Vendor &amp; Stakeholder Coordination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0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" y="0"/>
            <a:ext cx="12079224" cy="1097280"/>
          </a:xfrm>
          <a:prstGeom prst="rect">
            <a:avLst/>
          </a:prstGeom>
          <a:solidFill>
            <a:srgbClr val="11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9728" y="1097280"/>
            <a:ext cx="12079224" cy="12700"/>
          </a:xfrm>
          <a:prstGeom prst="rect">
            <a:avLst/>
          </a:prstGeom>
          <a:solidFill>
            <a:srgbClr val="33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D4A843"/>
                </a:solidFill>
                <a:latin typeface="Calibri"/>
              </a:rPr>
              <a:t>TECHNICAL SKILLS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1148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 Light"/>
              </a:rPr>
              <a:t>Technology Stack &amp; Tools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347472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899BB"/>
                </a:solidFill>
                <a:latin typeface="Calibri"/>
              </a:rPr>
              <a:t>08 / 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41732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D4A843"/>
                </a:solidFill>
                <a:latin typeface="Calibri"/>
              </a:rPr>
              <a:t>GIS &amp; UTILITY SYSTEMS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691640"/>
            <a:ext cx="2834640" cy="127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91160" y="1846580"/>
            <a:ext cx="63500" cy="635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8160" y="1783080"/>
            <a:ext cx="2682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899BB"/>
                </a:solidFill>
                <a:latin typeface="Calibri"/>
              </a:rPr>
              <a:t>ArcGIS Enterprise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91160" y="2120900"/>
            <a:ext cx="63500" cy="635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8160" y="2057400"/>
            <a:ext cx="2682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899BB"/>
                </a:solidFill>
                <a:latin typeface="Calibri"/>
              </a:rPr>
              <a:t>ArcFM Suite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91160" y="2395220"/>
            <a:ext cx="63500" cy="635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8160" y="2331720"/>
            <a:ext cx="2682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899BB"/>
                </a:solidFill>
                <a:latin typeface="Calibri"/>
              </a:rPr>
              <a:t>Enterprise Geodatabases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91160" y="2669540"/>
            <a:ext cx="63500" cy="635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8160" y="2606040"/>
            <a:ext cx="2682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899BB"/>
                </a:solidFill>
                <a:latin typeface="Calibri"/>
              </a:rPr>
              <a:t>GIS–ADMS Integration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91160" y="2943860"/>
            <a:ext cx="63500" cy="635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8160" y="2880360"/>
            <a:ext cx="2682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899BB"/>
                </a:solidFill>
                <a:latin typeface="Calibri"/>
              </a:rPr>
              <a:t>Utility Network Management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91160" y="3218180"/>
            <a:ext cx="63500" cy="635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8160" y="3154680"/>
            <a:ext cx="2682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899BB"/>
                </a:solidFill>
                <a:latin typeface="Calibri"/>
              </a:rPr>
              <a:t>Smart Grid Technologies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64992" y="141732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D4E8"/>
                </a:solidFill>
                <a:latin typeface="Calibri"/>
              </a:rPr>
              <a:t>PROGRAMMING &amp; AUTOMATION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364992" y="1691640"/>
            <a:ext cx="2834640" cy="12700"/>
          </a:xfrm>
          <a:prstGeom prst="rect">
            <a:avLst/>
          </a:prstGeom>
          <a:solidFill>
            <a:srgbClr val="00D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390392" y="1846580"/>
            <a:ext cx="63500" cy="63500"/>
          </a:xfrm>
          <a:prstGeom prst="rect">
            <a:avLst/>
          </a:prstGeom>
          <a:solidFill>
            <a:srgbClr val="00D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17392" y="1783080"/>
            <a:ext cx="2682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899BB"/>
                </a:solidFill>
                <a:latin typeface="Calibri"/>
              </a:rPr>
              <a:t>Python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390392" y="2120900"/>
            <a:ext cx="63500" cy="63500"/>
          </a:xfrm>
          <a:prstGeom prst="rect">
            <a:avLst/>
          </a:prstGeom>
          <a:solidFill>
            <a:srgbClr val="00D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17392" y="2057400"/>
            <a:ext cx="2682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899BB"/>
                </a:solidFill>
                <a:latin typeface="Calibri"/>
              </a:rPr>
              <a:t>VBA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390392" y="2395220"/>
            <a:ext cx="63500" cy="63500"/>
          </a:xfrm>
          <a:prstGeom prst="rect">
            <a:avLst/>
          </a:prstGeom>
          <a:solidFill>
            <a:srgbClr val="00D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517392" y="2331720"/>
            <a:ext cx="2682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899BB"/>
                </a:solidFill>
                <a:latin typeface="Calibri"/>
              </a:rPr>
              <a:t>C#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390392" y="2669540"/>
            <a:ext cx="63500" cy="63500"/>
          </a:xfrm>
          <a:prstGeom prst="rect">
            <a:avLst/>
          </a:prstGeom>
          <a:solidFill>
            <a:srgbClr val="00D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517392" y="2606040"/>
            <a:ext cx="2682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899BB"/>
                </a:solidFill>
                <a:latin typeface="Calibri"/>
              </a:rPr>
              <a:t>PHP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390392" y="2943860"/>
            <a:ext cx="63500" cy="63500"/>
          </a:xfrm>
          <a:prstGeom prst="rect">
            <a:avLst/>
          </a:prstGeom>
          <a:solidFill>
            <a:srgbClr val="00D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517392" y="2880360"/>
            <a:ext cx="2682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899BB"/>
                </a:solidFill>
                <a:latin typeface="Calibri"/>
              </a:rPr>
              <a:t>JavaScript / jQuery / AJAX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390392" y="3218180"/>
            <a:ext cx="63500" cy="63500"/>
          </a:xfrm>
          <a:prstGeom prst="rect">
            <a:avLst/>
          </a:prstGeom>
          <a:solidFill>
            <a:srgbClr val="00D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517392" y="3154680"/>
            <a:ext cx="2682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899BB"/>
                </a:solidFill>
                <a:latin typeface="Calibri"/>
              </a:rPr>
              <a:t>HTML / CSS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390392" y="3492500"/>
            <a:ext cx="63500" cy="63500"/>
          </a:xfrm>
          <a:prstGeom prst="rect">
            <a:avLst/>
          </a:prstGeom>
          <a:solidFill>
            <a:srgbClr val="00D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517392" y="3429000"/>
            <a:ext cx="2682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899BB"/>
                </a:solidFill>
                <a:latin typeface="Calibri"/>
              </a:rPr>
              <a:t>Visual Basic 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64224" y="141732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B8BEB"/>
                </a:solidFill>
                <a:latin typeface="Calibri"/>
              </a:rPr>
              <a:t>DATABASES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64224" y="1691640"/>
            <a:ext cx="2834640" cy="12700"/>
          </a:xfrm>
          <a:prstGeom prst="rect">
            <a:avLst/>
          </a:prstGeom>
          <a:solidFill>
            <a:srgbClr val="3B8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389624" y="1846580"/>
            <a:ext cx="63500" cy="63500"/>
          </a:xfrm>
          <a:prstGeom prst="rect">
            <a:avLst/>
          </a:prstGeom>
          <a:solidFill>
            <a:srgbClr val="3B8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516624" y="1783080"/>
            <a:ext cx="2682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899BB"/>
                </a:solidFill>
                <a:latin typeface="Calibri"/>
              </a:rPr>
              <a:t>Microsoft SQL Server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389624" y="2120900"/>
            <a:ext cx="63500" cy="63500"/>
          </a:xfrm>
          <a:prstGeom prst="rect">
            <a:avLst/>
          </a:prstGeom>
          <a:solidFill>
            <a:srgbClr val="3B8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516624" y="2057400"/>
            <a:ext cx="2682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899BB"/>
                </a:solidFill>
                <a:latin typeface="Calibri"/>
              </a:rPr>
              <a:t>Oracle Database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389624" y="2395220"/>
            <a:ext cx="63500" cy="63500"/>
          </a:xfrm>
          <a:prstGeom prst="rect">
            <a:avLst/>
          </a:prstGeom>
          <a:solidFill>
            <a:srgbClr val="3B8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516624" y="2331720"/>
            <a:ext cx="2682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899BB"/>
                </a:solidFill>
                <a:latin typeface="Calibri"/>
              </a:rPr>
              <a:t>MySQL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389624" y="2669540"/>
            <a:ext cx="63500" cy="63500"/>
          </a:xfrm>
          <a:prstGeom prst="rect">
            <a:avLst/>
          </a:prstGeom>
          <a:solidFill>
            <a:srgbClr val="3B8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516624" y="2606040"/>
            <a:ext cx="2682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899BB"/>
                </a:solidFill>
                <a:latin typeface="Calibri"/>
              </a:rPr>
              <a:t>Microsoft Access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363456" y="141732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DD48A"/>
                </a:solidFill>
                <a:latin typeface="Calibri"/>
              </a:rPr>
              <a:t>OPERATING SYSTEMS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363456" y="1691640"/>
            <a:ext cx="2834640" cy="12700"/>
          </a:xfrm>
          <a:prstGeom prst="rect">
            <a:avLst/>
          </a:prstGeom>
          <a:solidFill>
            <a:srgbClr val="2D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9388856" y="1846580"/>
            <a:ext cx="63500" cy="63500"/>
          </a:xfrm>
          <a:prstGeom prst="rect">
            <a:avLst/>
          </a:prstGeom>
          <a:solidFill>
            <a:srgbClr val="2D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515856" y="1783080"/>
            <a:ext cx="2682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899BB"/>
                </a:solidFill>
                <a:latin typeface="Calibri"/>
              </a:rPr>
              <a:t>Windows Server &amp; Desktop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388856" y="2120900"/>
            <a:ext cx="63500" cy="63500"/>
          </a:xfrm>
          <a:prstGeom prst="rect">
            <a:avLst/>
          </a:prstGeom>
          <a:solidFill>
            <a:srgbClr val="2D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515856" y="2057400"/>
            <a:ext cx="2682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899BB"/>
                </a:solidFill>
                <a:latin typeface="Calibri"/>
              </a:rPr>
              <a:t>Linux / Ubuntu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388856" y="2395220"/>
            <a:ext cx="63500" cy="63500"/>
          </a:xfrm>
          <a:prstGeom prst="rect">
            <a:avLst/>
          </a:prstGeom>
          <a:solidFill>
            <a:srgbClr val="2D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515856" y="2331720"/>
            <a:ext cx="2682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899BB"/>
                </a:solidFill>
                <a:latin typeface="Calibri"/>
              </a:rPr>
              <a:t>Unix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65760" y="416052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D4E8"/>
                </a:solidFill>
                <a:latin typeface="Calibri"/>
              </a:rPr>
              <a:t>WEB &amp; CMS TECHNOLOGIES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65760" y="4434840"/>
            <a:ext cx="2834640" cy="12700"/>
          </a:xfrm>
          <a:prstGeom prst="rect">
            <a:avLst/>
          </a:prstGeom>
          <a:solidFill>
            <a:srgbClr val="00D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391160" y="4589780"/>
            <a:ext cx="63500" cy="63500"/>
          </a:xfrm>
          <a:prstGeom prst="rect">
            <a:avLst/>
          </a:prstGeom>
          <a:solidFill>
            <a:srgbClr val="00D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18160" y="4526280"/>
            <a:ext cx="2682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899BB"/>
                </a:solidFill>
                <a:latin typeface="Calibri"/>
              </a:rPr>
              <a:t>WordPress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91160" y="4864100"/>
            <a:ext cx="63500" cy="63500"/>
          </a:xfrm>
          <a:prstGeom prst="rect">
            <a:avLst/>
          </a:prstGeom>
          <a:solidFill>
            <a:srgbClr val="00D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18160" y="4800600"/>
            <a:ext cx="2682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899BB"/>
                </a:solidFill>
                <a:latin typeface="Calibri"/>
              </a:rPr>
              <a:t>Joomla / Drupal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91160" y="5138420"/>
            <a:ext cx="63500" cy="63500"/>
          </a:xfrm>
          <a:prstGeom prst="rect">
            <a:avLst/>
          </a:prstGeom>
          <a:solidFill>
            <a:srgbClr val="00D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18160" y="5074920"/>
            <a:ext cx="2682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899BB"/>
                </a:solidFill>
                <a:latin typeface="Calibri"/>
              </a:rPr>
              <a:t>OpenCart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64992" y="416052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D4A843"/>
                </a:solidFill>
                <a:latin typeface="Calibri"/>
              </a:rPr>
              <a:t>NETWORKING &amp; INFRASTRUCTURE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364992" y="4434840"/>
            <a:ext cx="2834640" cy="127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3390392" y="4589780"/>
            <a:ext cx="63500" cy="635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517392" y="4526280"/>
            <a:ext cx="2682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899BB"/>
                </a:solidFill>
                <a:latin typeface="Calibri"/>
              </a:rPr>
              <a:t>FortiGate Infrastructure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390392" y="4864100"/>
            <a:ext cx="63500" cy="635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3517392" y="4800600"/>
            <a:ext cx="2682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899BB"/>
                </a:solidFill>
                <a:latin typeface="Calibri"/>
              </a:rPr>
              <a:t>FortiADC Load Balancer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364224" y="416052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B8BEB"/>
                </a:solidFill>
                <a:latin typeface="Calibri"/>
              </a:rPr>
              <a:t>DEV &amp; ANALYSIS TOOLS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364224" y="4434840"/>
            <a:ext cx="2834640" cy="12700"/>
          </a:xfrm>
          <a:prstGeom prst="rect">
            <a:avLst/>
          </a:prstGeom>
          <a:solidFill>
            <a:srgbClr val="3B8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389624" y="4589780"/>
            <a:ext cx="63500" cy="63500"/>
          </a:xfrm>
          <a:prstGeom prst="rect">
            <a:avLst/>
          </a:prstGeom>
          <a:solidFill>
            <a:srgbClr val="3B8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516624" y="4526280"/>
            <a:ext cx="2682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899BB"/>
                </a:solidFill>
                <a:latin typeface="Calibri"/>
              </a:rPr>
              <a:t>Microsoft Visual Studio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389624" y="4864100"/>
            <a:ext cx="63500" cy="63500"/>
          </a:xfrm>
          <a:prstGeom prst="rect">
            <a:avLst/>
          </a:prstGeom>
          <a:solidFill>
            <a:srgbClr val="3B8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516624" y="4800600"/>
            <a:ext cx="2682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899BB"/>
                </a:solidFill>
                <a:latin typeface="Calibri"/>
              </a:rPr>
              <a:t>Visual Studio Code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389624" y="5138420"/>
            <a:ext cx="63500" cy="63500"/>
          </a:xfrm>
          <a:prstGeom prst="rect">
            <a:avLst/>
          </a:prstGeom>
          <a:solidFill>
            <a:srgbClr val="3B8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516624" y="5074920"/>
            <a:ext cx="2682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899BB"/>
                </a:solidFill>
                <a:latin typeface="Calibri"/>
              </a:rPr>
              <a:t>PyCharm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389624" y="5412740"/>
            <a:ext cx="63500" cy="63500"/>
          </a:xfrm>
          <a:prstGeom prst="rect">
            <a:avLst/>
          </a:prstGeom>
          <a:solidFill>
            <a:srgbClr val="3B8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516624" y="5349240"/>
            <a:ext cx="2682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899BB"/>
                </a:solidFill>
                <a:latin typeface="Calibri"/>
              </a:rPr>
              <a:t>Jupyter Notebook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363456" y="416052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DD48A"/>
                </a:solidFill>
                <a:latin typeface="Calibri"/>
              </a:rPr>
              <a:t>MICROSOFT OFFICE SUITE</a:t>
            </a:r>
          </a:p>
        </p:txBody>
      </p:sp>
      <p:sp>
        <p:nvSpPr>
          <p:cNvPr id="82" name="Rectangle 81"/>
          <p:cNvSpPr/>
          <p:nvPr/>
        </p:nvSpPr>
        <p:spPr>
          <a:xfrm>
            <a:off x="9363456" y="4434840"/>
            <a:ext cx="2834640" cy="12700"/>
          </a:xfrm>
          <a:prstGeom prst="rect">
            <a:avLst/>
          </a:prstGeom>
          <a:solidFill>
            <a:srgbClr val="2D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9388856" y="4589780"/>
            <a:ext cx="63500" cy="63500"/>
          </a:xfrm>
          <a:prstGeom prst="rect">
            <a:avLst/>
          </a:prstGeom>
          <a:solidFill>
            <a:srgbClr val="2D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9515856" y="4526280"/>
            <a:ext cx="2682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899BB"/>
                </a:solidFill>
                <a:latin typeface="Calibri"/>
              </a:rPr>
              <a:t>Word</a:t>
            </a:r>
          </a:p>
        </p:txBody>
      </p:sp>
      <p:sp>
        <p:nvSpPr>
          <p:cNvPr id="85" name="Rectangle 84"/>
          <p:cNvSpPr/>
          <p:nvPr/>
        </p:nvSpPr>
        <p:spPr>
          <a:xfrm>
            <a:off x="9388856" y="4864100"/>
            <a:ext cx="63500" cy="63500"/>
          </a:xfrm>
          <a:prstGeom prst="rect">
            <a:avLst/>
          </a:prstGeom>
          <a:solidFill>
            <a:srgbClr val="2D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9515856" y="4800600"/>
            <a:ext cx="2682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899BB"/>
                </a:solidFill>
                <a:latin typeface="Calibri"/>
              </a:rPr>
              <a:t>Excel</a:t>
            </a:r>
          </a:p>
        </p:txBody>
      </p:sp>
      <p:sp>
        <p:nvSpPr>
          <p:cNvPr id="87" name="Rectangle 86"/>
          <p:cNvSpPr/>
          <p:nvPr/>
        </p:nvSpPr>
        <p:spPr>
          <a:xfrm>
            <a:off x="9388856" y="5138420"/>
            <a:ext cx="63500" cy="63500"/>
          </a:xfrm>
          <a:prstGeom prst="rect">
            <a:avLst/>
          </a:prstGeom>
          <a:solidFill>
            <a:srgbClr val="2D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9515856" y="5074920"/>
            <a:ext cx="2682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899BB"/>
                </a:solidFill>
                <a:latin typeface="Calibri"/>
              </a:rPr>
              <a:t>PowerPoint</a:t>
            </a:r>
          </a:p>
        </p:txBody>
      </p:sp>
      <p:sp>
        <p:nvSpPr>
          <p:cNvPr id="89" name="Rectangle 88"/>
          <p:cNvSpPr/>
          <p:nvPr/>
        </p:nvSpPr>
        <p:spPr>
          <a:xfrm>
            <a:off x="9388856" y="5412740"/>
            <a:ext cx="63500" cy="63500"/>
          </a:xfrm>
          <a:prstGeom prst="rect">
            <a:avLst/>
          </a:prstGeom>
          <a:solidFill>
            <a:srgbClr val="2D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9515856" y="5349240"/>
            <a:ext cx="2682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899BB"/>
                </a:solidFill>
                <a:latin typeface="Calibri"/>
              </a:rPr>
              <a:t>Access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0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" y="0"/>
            <a:ext cx="12079224" cy="1097280"/>
          </a:xfrm>
          <a:prstGeom prst="rect">
            <a:avLst/>
          </a:prstGeom>
          <a:solidFill>
            <a:srgbClr val="11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9728" y="1097280"/>
            <a:ext cx="12079224" cy="12700"/>
          </a:xfrm>
          <a:prstGeom prst="rect">
            <a:avLst/>
          </a:prstGeom>
          <a:solidFill>
            <a:srgbClr val="33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D4A843"/>
                </a:solidFill>
                <a:latin typeface="Calibri"/>
              </a:rPr>
              <a:t>PROFESSIONAL CERTIFICATIONS &amp; TRAINING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1148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 Light"/>
              </a:rPr>
              <a:t>Certification Overview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347472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899BB"/>
                </a:solidFill>
                <a:latin typeface="Calibri"/>
              </a:rPr>
              <a:t>09 / 14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417320"/>
            <a:ext cx="3566160" cy="1920240"/>
          </a:xfrm>
          <a:prstGeom prst="rect">
            <a:avLst/>
          </a:prstGeom>
          <a:solidFill>
            <a:srgbClr val="0F1B32"/>
          </a:solidFill>
          <a:ln w="6350">
            <a:solidFill>
              <a:srgbClr val="D4A8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417320"/>
            <a:ext cx="50800" cy="192024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600200"/>
            <a:ext cx="3566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1" i="0">
                <a:solidFill>
                  <a:srgbClr val="D4A843"/>
                </a:solidFill>
                <a:latin typeface="Calibri Light"/>
              </a:rPr>
              <a:t>15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0240" y="2560320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8899BB"/>
                </a:solidFill>
                <a:latin typeface="Calibri"/>
              </a:rPr>
              <a:t>Esri / ArcGIS
Certifications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89120" y="1417320"/>
            <a:ext cx="3566160" cy="1920240"/>
          </a:xfrm>
          <a:prstGeom prst="rect">
            <a:avLst/>
          </a:prstGeom>
          <a:solidFill>
            <a:srgbClr val="0F1B32"/>
          </a:solidFill>
          <a:ln w="6350">
            <a:solidFill>
              <a:srgbClr val="3B8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89120" y="1417320"/>
            <a:ext cx="50800" cy="1920240"/>
          </a:xfrm>
          <a:prstGeom prst="rect">
            <a:avLst/>
          </a:prstGeom>
          <a:solidFill>
            <a:srgbClr val="3B8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20" y="1600200"/>
            <a:ext cx="3566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1" i="0">
                <a:solidFill>
                  <a:srgbClr val="3B8BEB"/>
                </a:solidFill>
                <a:latin typeface="Calibri Light"/>
              </a:rP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90720" y="2560320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8899BB"/>
                </a:solidFill>
                <a:latin typeface="Calibri"/>
              </a:rPr>
              <a:t>Schneider Electric
/ ArcFM Certifications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0" y="1417320"/>
            <a:ext cx="3566160" cy="1920240"/>
          </a:xfrm>
          <a:prstGeom prst="rect">
            <a:avLst/>
          </a:prstGeom>
          <a:solidFill>
            <a:srgbClr val="0F1B32"/>
          </a:solidFill>
          <a:ln w="6350">
            <a:solidFill>
              <a:srgbClr val="00D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29600" y="1417320"/>
            <a:ext cx="50800" cy="1920240"/>
          </a:xfrm>
          <a:prstGeom prst="rect">
            <a:avLst/>
          </a:prstGeom>
          <a:solidFill>
            <a:srgbClr val="00D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1600200"/>
            <a:ext cx="3566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1" i="0">
                <a:solidFill>
                  <a:srgbClr val="00D4E8"/>
                </a:solidFill>
                <a:latin typeface="Calibri Light"/>
              </a:rPr>
              <a:t>21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31200" y="2560320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8899BB"/>
                </a:solidFill>
                <a:latin typeface="Calibri"/>
              </a:rPr>
              <a:t>Total Professional
Certifications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352044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899BB"/>
                </a:solidFill>
                <a:latin typeface="Calibri"/>
              </a:rPr>
              <a:t>Comprehensive certified training across GIS enterprise systems, utility network management, geodatabase administration, data quality, field data collection, schematic generation, and integrated document management — covering the full spectrum of Power GIS operations.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343400"/>
            <a:ext cx="11247120" cy="12700"/>
          </a:xfrm>
          <a:prstGeom prst="rect">
            <a:avLst/>
          </a:prstGeom>
          <a:solidFill>
            <a:srgbClr val="22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200400" y="4526280"/>
            <a:ext cx="2651760" cy="1280160"/>
          </a:xfrm>
          <a:prstGeom prst="rect">
            <a:avLst/>
          </a:prstGeom>
          <a:solidFill>
            <a:srgbClr val="0F1B32"/>
          </a:solidFill>
          <a:ln w="6350">
            <a:solidFill>
              <a:srgbClr val="D4A8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200400" y="4526280"/>
            <a:ext cx="2651760" cy="381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00400" y="4681728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D4A843"/>
                </a:solidFill>
                <a:latin typeface="Calibri Light"/>
              </a:rPr>
              <a:t>Esri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0400" y="512064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99BB"/>
                </a:solidFill>
                <a:latin typeface="Calibri"/>
              </a:rPr>
              <a:t>ArcGIS Platform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17920" y="4526280"/>
            <a:ext cx="2651760" cy="1280160"/>
          </a:xfrm>
          <a:prstGeom prst="rect">
            <a:avLst/>
          </a:prstGeom>
          <a:solidFill>
            <a:srgbClr val="0F1B32"/>
          </a:solidFill>
          <a:ln w="6350">
            <a:solidFill>
              <a:srgbClr val="3B8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17920" y="4526280"/>
            <a:ext cx="2651760" cy="38100"/>
          </a:xfrm>
          <a:prstGeom prst="rect">
            <a:avLst/>
          </a:prstGeom>
          <a:solidFill>
            <a:srgbClr val="3B8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17920" y="4681728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3B8BEB"/>
                </a:solidFill>
                <a:latin typeface="Calibri Light"/>
              </a:rPr>
              <a:t>Schneider Electric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0" y="512064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99BB"/>
                </a:solidFill>
                <a:latin typeface="Calibri"/>
              </a:rPr>
              <a:t>ArcFM Solution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0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" y="0"/>
            <a:ext cx="12079224" cy="1097280"/>
          </a:xfrm>
          <a:prstGeom prst="rect">
            <a:avLst/>
          </a:prstGeom>
          <a:solidFill>
            <a:srgbClr val="11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9728" y="1097280"/>
            <a:ext cx="12079224" cy="12700"/>
          </a:xfrm>
          <a:prstGeom prst="rect">
            <a:avLst/>
          </a:prstGeom>
          <a:solidFill>
            <a:srgbClr val="33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D4A843"/>
                </a:solidFill>
                <a:latin typeface="Calibri"/>
              </a:rPr>
              <a:t>ESRI / ARCGIS CERTIFICATIONS  |  15 CERTIFICATES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1148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 Light"/>
              </a:rPr>
              <a:t>ArcGIS Professional Training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347472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899BB"/>
                </a:solidFill>
                <a:latin typeface="Calibri"/>
              </a:rPr>
              <a:t>10 / 14</a:t>
            </a:r>
          </a:p>
        </p:txBody>
      </p:sp>
      <p:sp>
        <p:nvSpPr>
          <p:cNvPr id="9" name="Rectangle 8"/>
          <p:cNvSpPr/>
          <p:nvPr/>
        </p:nvSpPr>
        <p:spPr>
          <a:xfrm>
            <a:off x="9875520" y="137160"/>
            <a:ext cx="2103120" cy="685800"/>
          </a:xfrm>
          <a:prstGeom prst="rect">
            <a:avLst/>
          </a:prstGeom>
          <a:solidFill>
            <a:srgbClr val="1A2845"/>
          </a:solidFill>
          <a:ln w="6350">
            <a:solidFill>
              <a:srgbClr val="D4A8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0" y="256032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D4A843"/>
                </a:solidFill>
                <a:latin typeface="Calibri"/>
              </a:rPr>
              <a:t>ESRI  |  15 CERTS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371600"/>
            <a:ext cx="3840480" cy="960120"/>
          </a:xfrm>
          <a:prstGeom prst="rect">
            <a:avLst/>
          </a:prstGeom>
          <a:solidFill>
            <a:srgbClr val="0D1A30"/>
          </a:solidFill>
          <a:ln w="6350">
            <a:solidFill>
              <a:srgbClr val="D4A8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0040" y="1371600"/>
            <a:ext cx="50800" cy="96012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1640" y="1473200"/>
            <a:ext cx="274320" cy="274320"/>
          </a:xfrm>
          <a:prstGeom prst="rect">
            <a:avLst/>
          </a:prstGeom>
          <a:solidFill>
            <a:srgbClr val="D4A843"/>
          </a:solidFill>
          <a:ln w="6350">
            <a:solidFill>
              <a:srgbClr val="D4A8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1640" y="147320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080C14"/>
                </a:solidFill>
                <a:latin typeface="Calibri"/>
              </a:rP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3440" y="1460500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ArcGIS Essential Workflows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3440" y="187960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99BB"/>
                </a:solidFill>
                <a:latin typeface="Calibri"/>
              </a:rPr>
              <a:t>Foundation workflows and best practices for ArcGIS platform usage.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2423160"/>
            <a:ext cx="3840480" cy="960120"/>
          </a:xfrm>
          <a:prstGeom prst="rect">
            <a:avLst/>
          </a:prstGeom>
          <a:solidFill>
            <a:srgbClr val="0D1A30"/>
          </a:solidFill>
          <a:ln w="6350">
            <a:solidFill>
              <a:srgbClr val="D4A8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0040" y="2423160"/>
            <a:ext cx="50800" cy="96012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1640" y="2524760"/>
            <a:ext cx="274320" cy="274320"/>
          </a:xfrm>
          <a:prstGeom prst="rect">
            <a:avLst/>
          </a:prstGeom>
          <a:solidFill>
            <a:srgbClr val="D4A843"/>
          </a:solidFill>
          <a:ln w="6350">
            <a:solidFill>
              <a:srgbClr val="D4A8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1640" y="252476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080C14"/>
                </a:solidFill>
                <a:latin typeface="Calibri"/>
              </a:rP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3440" y="2512060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Performing Analysis with ArcGIS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3440" y="293116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99BB"/>
                </a:solidFill>
                <a:latin typeface="Calibri"/>
              </a:rPr>
              <a:t>Spatial analysis tools and techniques within ArcGIS environment.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3474720"/>
            <a:ext cx="3840480" cy="960120"/>
          </a:xfrm>
          <a:prstGeom prst="rect">
            <a:avLst/>
          </a:prstGeom>
          <a:solidFill>
            <a:srgbClr val="0D1A30"/>
          </a:solidFill>
          <a:ln w="6350">
            <a:solidFill>
              <a:srgbClr val="D4A8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20040" y="3474720"/>
            <a:ext cx="50800" cy="96012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1640" y="3576320"/>
            <a:ext cx="274320" cy="274320"/>
          </a:xfrm>
          <a:prstGeom prst="rect">
            <a:avLst/>
          </a:prstGeom>
          <a:solidFill>
            <a:srgbClr val="D4A843"/>
          </a:solidFill>
          <a:ln w="6350">
            <a:solidFill>
              <a:srgbClr val="D4A8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1640" y="357632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080C14"/>
                </a:solidFill>
                <a:latin typeface="Calibri"/>
              </a:rPr>
              <a:t>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3440" y="3563620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Sharing Content on the Web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3440" y="398272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99BB"/>
                </a:solidFill>
                <a:latin typeface="Calibri"/>
              </a:rPr>
              <a:t>Publishing maps, layers, and services to ArcGIS Online &amp; Portal.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4526280"/>
            <a:ext cx="3840480" cy="960120"/>
          </a:xfrm>
          <a:prstGeom prst="rect">
            <a:avLst/>
          </a:prstGeom>
          <a:solidFill>
            <a:srgbClr val="0D1A30"/>
          </a:solidFill>
          <a:ln w="6350">
            <a:solidFill>
              <a:srgbClr val="D4A8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20040" y="4526280"/>
            <a:ext cx="50800" cy="96012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21640" y="4627880"/>
            <a:ext cx="274320" cy="274320"/>
          </a:xfrm>
          <a:prstGeom prst="rect">
            <a:avLst/>
          </a:prstGeom>
          <a:solidFill>
            <a:srgbClr val="D4A843"/>
          </a:solidFill>
          <a:ln w="6350">
            <a:solidFill>
              <a:srgbClr val="D4A8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1640" y="462788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080C14"/>
                </a:solidFill>
                <a:latin typeface="Calibri"/>
              </a:rPr>
              <a:t>04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3440" y="4615180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ArcGIS Server Site Configuration &amp; Admin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3440" y="503428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99BB"/>
                </a:solidFill>
                <a:latin typeface="Calibri"/>
              </a:rPr>
              <a:t>Enterprise GIS server setup, configuration, and administration.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0040" y="5577840"/>
            <a:ext cx="3840480" cy="960120"/>
          </a:xfrm>
          <a:prstGeom prst="rect">
            <a:avLst/>
          </a:prstGeom>
          <a:solidFill>
            <a:srgbClr val="0D1A30"/>
          </a:solidFill>
          <a:ln w="6350">
            <a:solidFill>
              <a:srgbClr val="D4A8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20040" y="5577840"/>
            <a:ext cx="50800" cy="96012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21640" y="5679440"/>
            <a:ext cx="274320" cy="274320"/>
          </a:xfrm>
          <a:prstGeom prst="rect">
            <a:avLst/>
          </a:prstGeom>
          <a:solidFill>
            <a:srgbClr val="D4A843"/>
          </a:solidFill>
          <a:ln w="6350">
            <a:solidFill>
              <a:srgbClr val="D4A8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21640" y="567944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080C14"/>
                </a:solidFill>
                <a:latin typeface="Calibri"/>
              </a:rPr>
              <a:t>05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3440" y="5666740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Building Geodatabases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3440" y="608584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99BB"/>
                </a:solidFill>
                <a:latin typeface="Calibri"/>
              </a:rPr>
              <a:t>Design and creation of geodatabases for spatial data storage.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297679" y="1371600"/>
            <a:ext cx="3840480" cy="960120"/>
          </a:xfrm>
          <a:prstGeom prst="rect">
            <a:avLst/>
          </a:prstGeom>
          <a:solidFill>
            <a:srgbClr val="0D1A30"/>
          </a:solidFill>
          <a:ln w="6350">
            <a:solidFill>
              <a:srgbClr val="D4A8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297679" y="1371600"/>
            <a:ext cx="50800" cy="96012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399279" y="1473200"/>
            <a:ext cx="274320" cy="274320"/>
          </a:xfrm>
          <a:prstGeom prst="rect">
            <a:avLst/>
          </a:prstGeom>
          <a:solidFill>
            <a:srgbClr val="D4A843"/>
          </a:solidFill>
          <a:ln w="6350">
            <a:solidFill>
              <a:srgbClr val="D4A8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399279" y="147320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080C14"/>
                </a:solidFill>
                <a:latin typeface="Calibri"/>
              </a:rPr>
              <a:t>06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831079" y="1460500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Multiuser Geodatabase Deployment &amp; Maint.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831079" y="187960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99BB"/>
                </a:solidFill>
                <a:latin typeface="Calibri"/>
              </a:rPr>
              <a:t>Enterprise geodatabase deployment, versioning, and maintenance.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297679" y="2423160"/>
            <a:ext cx="3840480" cy="960120"/>
          </a:xfrm>
          <a:prstGeom prst="rect">
            <a:avLst/>
          </a:prstGeom>
          <a:solidFill>
            <a:srgbClr val="0D1A30"/>
          </a:solidFill>
          <a:ln w="6350">
            <a:solidFill>
              <a:srgbClr val="D4A8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297679" y="2423160"/>
            <a:ext cx="50800" cy="96012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399279" y="2524760"/>
            <a:ext cx="274320" cy="274320"/>
          </a:xfrm>
          <a:prstGeom prst="rect">
            <a:avLst/>
          </a:prstGeom>
          <a:solidFill>
            <a:srgbClr val="D4A843"/>
          </a:solidFill>
          <a:ln w="6350">
            <a:solidFill>
              <a:srgbClr val="D4A8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399279" y="252476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080C14"/>
                </a:solidFill>
                <a:latin typeface="Calibri"/>
              </a:rPr>
              <a:t>07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831079" y="2512060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Designing Maps with ArcGIS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831079" y="293116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99BB"/>
                </a:solidFill>
                <a:latin typeface="Calibri"/>
              </a:rPr>
              <a:t>Cartographic design principles and map production techniques.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297679" y="3474720"/>
            <a:ext cx="3840480" cy="960120"/>
          </a:xfrm>
          <a:prstGeom prst="rect">
            <a:avLst/>
          </a:prstGeom>
          <a:solidFill>
            <a:srgbClr val="0D1A30"/>
          </a:solidFill>
          <a:ln w="6350">
            <a:solidFill>
              <a:srgbClr val="D4A8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297679" y="3474720"/>
            <a:ext cx="50800" cy="96012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399279" y="3576320"/>
            <a:ext cx="274320" cy="274320"/>
          </a:xfrm>
          <a:prstGeom prst="rect">
            <a:avLst/>
          </a:prstGeom>
          <a:solidFill>
            <a:srgbClr val="D4A843"/>
          </a:solidFill>
          <a:ln w="6350">
            <a:solidFill>
              <a:srgbClr val="D4A8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399279" y="357632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080C14"/>
                </a:solidFill>
                <a:latin typeface="Calibri"/>
              </a:rPr>
              <a:t>08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831079" y="3563620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Geodatabase Replication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831079" y="398272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99BB"/>
                </a:solidFill>
                <a:latin typeface="Calibri"/>
              </a:rPr>
              <a:t>Setting up and managing geodatabase replication workflows.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297679" y="4526280"/>
            <a:ext cx="3840480" cy="960120"/>
          </a:xfrm>
          <a:prstGeom prst="rect">
            <a:avLst/>
          </a:prstGeom>
          <a:solidFill>
            <a:srgbClr val="0D1A30"/>
          </a:solidFill>
          <a:ln w="6350">
            <a:solidFill>
              <a:srgbClr val="D4A8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4297679" y="4526280"/>
            <a:ext cx="50800" cy="96012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4399279" y="4627880"/>
            <a:ext cx="274320" cy="274320"/>
          </a:xfrm>
          <a:prstGeom prst="rect">
            <a:avLst/>
          </a:prstGeom>
          <a:solidFill>
            <a:srgbClr val="D4A843"/>
          </a:solidFill>
          <a:ln w="6350">
            <a:solidFill>
              <a:srgbClr val="D4A8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399279" y="462788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080C14"/>
                </a:solidFill>
                <a:latin typeface="Calibri"/>
              </a:rPr>
              <a:t>09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831079" y="4615180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Data Editing with ArcGIS Desktop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831079" y="503428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99BB"/>
                </a:solidFill>
                <a:latin typeface="Calibri"/>
              </a:rPr>
              <a:t>Feature editing, attribute editing, and topology management.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297679" y="5577840"/>
            <a:ext cx="3840480" cy="960120"/>
          </a:xfrm>
          <a:prstGeom prst="rect">
            <a:avLst/>
          </a:prstGeom>
          <a:solidFill>
            <a:srgbClr val="0D1A30"/>
          </a:solidFill>
          <a:ln w="6350">
            <a:solidFill>
              <a:srgbClr val="D4A8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4297679" y="5577840"/>
            <a:ext cx="50800" cy="96012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4399279" y="5679440"/>
            <a:ext cx="274320" cy="274320"/>
          </a:xfrm>
          <a:prstGeom prst="rect">
            <a:avLst/>
          </a:prstGeom>
          <a:solidFill>
            <a:srgbClr val="D4A843"/>
          </a:solidFill>
          <a:ln w="6350">
            <a:solidFill>
              <a:srgbClr val="D4A8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399279" y="567944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080C14"/>
                </a:solidFill>
                <a:latin typeface="Calibri"/>
              </a:rPr>
              <a:t>10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831079" y="5666740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Field Data Collection &amp; Management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831079" y="608584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99BB"/>
                </a:solidFill>
                <a:latin typeface="Calibri"/>
              </a:rPr>
              <a:t>Mobile data collection using Survey123, Collector, and Field Maps.</a:t>
            </a:r>
          </a:p>
        </p:txBody>
      </p:sp>
      <p:sp>
        <p:nvSpPr>
          <p:cNvPr id="71" name="Rectangle 70"/>
          <p:cNvSpPr/>
          <p:nvPr/>
        </p:nvSpPr>
        <p:spPr>
          <a:xfrm>
            <a:off x="8275318" y="1371600"/>
            <a:ext cx="3840480" cy="960120"/>
          </a:xfrm>
          <a:prstGeom prst="rect">
            <a:avLst/>
          </a:prstGeom>
          <a:solidFill>
            <a:srgbClr val="0D1A30"/>
          </a:solidFill>
          <a:ln w="6350">
            <a:solidFill>
              <a:srgbClr val="D4A8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8275318" y="1371600"/>
            <a:ext cx="50800" cy="96012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8376918" y="1473200"/>
            <a:ext cx="274320" cy="274320"/>
          </a:xfrm>
          <a:prstGeom prst="rect">
            <a:avLst/>
          </a:prstGeom>
          <a:solidFill>
            <a:srgbClr val="D4A843"/>
          </a:solidFill>
          <a:ln w="6350">
            <a:solidFill>
              <a:srgbClr val="D4A8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8376918" y="147320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080C14"/>
                </a:solidFill>
                <a:latin typeface="Calibri"/>
              </a:rPr>
              <a:t>11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808718" y="1460500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Versioned Workflows Implementation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808718" y="187960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99BB"/>
                </a:solidFill>
                <a:latin typeface="Calibri"/>
              </a:rPr>
              <a:t>Managing versioned editing in multiuser geodatabase environments.</a:t>
            </a:r>
          </a:p>
        </p:txBody>
      </p:sp>
      <p:sp>
        <p:nvSpPr>
          <p:cNvPr id="77" name="Rectangle 76"/>
          <p:cNvSpPr/>
          <p:nvPr/>
        </p:nvSpPr>
        <p:spPr>
          <a:xfrm>
            <a:off x="8275318" y="2423160"/>
            <a:ext cx="3840480" cy="960120"/>
          </a:xfrm>
          <a:prstGeom prst="rect">
            <a:avLst/>
          </a:prstGeom>
          <a:solidFill>
            <a:srgbClr val="0D1A30"/>
          </a:solidFill>
          <a:ln w="6350">
            <a:solidFill>
              <a:srgbClr val="D4A8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8275318" y="2423160"/>
            <a:ext cx="50800" cy="96012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8376918" y="2524760"/>
            <a:ext cx="274320" cy="274320"/>
          </a:xfrm>
          <a:prstGeom prst="rect">
            <a:avLst/>
          </a:prstGeom>
          <a:solidFill>
            <a:srgbClr val="D4A843"/>
          </a:solidFill>
          <a:ln w="6350">
            <a:solidFill>
              <a:srgbClr val="D4A8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8376918" y="252476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080C14"/>
                </a:solidFill>
                <a:latin typeface="Calibri"/>
              </a:rPr>
              <a:t>12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808718" y="2512060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Data Reviewer for Data Quality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808718" y="293116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99BB"/>
                </a:solidFill>
                <a:latin typeface="Calibri"/>
              </a:rPr>
              <a:t>Automated data quality checks and validation using Data Reviewer.</a:t>
            </a:r>
          </a:p>
        </p:txBody>
      </p:sp>
      <p:sp>
        <p:nvSpPr>
          <p:cNvPr id="83" name="Rectangle 82"/>
          <p:cNvSpPr/>
          <p:nvPr/>
        </p:nvSpPr>
        <p:spPr>
          <a:xfrm>
            <a:off x="8275318" y="3474720"/>
            <a:ext cx="3840480" cy="960120"/>
          </a:xfrm>
          <a:prstGeom prst="rect">
            <a:avLst/>
          </a:prstGeom>
          <a:solidFill>
            <a:srgbClr val="0D1A30"/>
          </a:solidFill>
          <a:ln w="6350">
            <a:solidFill>
              <a:srgbClr val="D4A8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8275318" y="3474720"/>
            <a:ext cx="50800" cy="96012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8376918" y="3576320"/>
            <a:ext cx="274320" cy="274320"/>
          </a:xfrm>
          <a:prstGeom prst="rect">
            <a:avLst/>
          </a:prstGeom>
          <a:solidFill>
            <a:srgbClr val="D4A843"/>
          </a:solidFill>
          <a:ln w="6350">
            <a:solidFill>
              <a:srgbClr val="D4A8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8376918" y="357632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080C14"/>
                </a:solidFill>
                <a:latin typeface="Calibri"/>
              </a:rPr>
              <a:t>13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08718" y="3563620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ArcGIS Schematics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8808718" y="398272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99BB"/>
                </a:solidFill>
                <a:latin typeface="Calibri"/>
              </a:rPr>
              <a:t>Creating and managing schematic diagrams for network visualization.</a:t>
            </a:r>
          </a:p>
        </p:txBody>
      </p:sp>
      <p:sp>
        <p:nvSpPr>
          <p:cNvPr id="89" name="Rectangle 88"/>
          <p:cNvSpPr/>
          <p:nvPr/>
        </p:nvSpPr>
        <p:spPr>
          <a:xfrm>
            <a:off x="8275318" y="4526280"/>
            <a:ext cx="3840480" cy="960120"/>
          </a:xfrm>
          <a:prstGeom prst="rect">
            <a:avLst/>
          </a:prstGeom>
          <a:solidFill>
            <a:srgbClr val="0D1A30"/>
          </a:solidFill>
          <a:ln w="6350">
            <a:solidFill>
              <a:srgbClr val="D4A8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8275318" y="4526280"/>
            <a:ext cx="50800" cy="96012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8376918" y="4627880"/>
            <a:ext cx="274320" cy="274320"/>
          </a:xfrm>
          <a:prstGeom prst="rect">
            <a:avLst/>
          </a:prstGeom>
          <a:solidFill>
            <a:srgbClr val="D4A843"/>
          </a:solidFill>
          <a:ln w="6350">
            <a:solidFill>
              <a:srgbClr val="D4A8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8376918" y="462788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080C14"/>
                </a:solidFill>
                <a:latin typeface="Calibri"/>
              </a:rPr>
              <a:t>14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808718" y="4615180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CAD Data Integration with ArcGIS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08718" y="503428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99BB"/>
                </a:solidFill>
                <a:latin typeface="Calibri"/>
              </a:rPr>
              <a:t>Integrating CAD drawings and data into the ArcGIS environment.</a:t>
            </a:r>
          </a:p>
        </p:txBody>
      </p:sp>
      <p:sp>
        <p:nvSpPr>
          <p:cNvPr id="95" name="Rectangle 94"/>
          <p:cNvSpPr/>
          <p:nvPr/>
        </p:nvSpPr>
        <p:spPr>
          <a:xfrm>
            <a:off x="8275318" y="5577840"/>
            <a:ext cx="3840480" cy="960120"/>
          </a:xfrm>
          <a:prstGeom prst="rect">
            <a:avLst/>
          </a:prstGeom>
          <a:solidFill>
            <a:srgbClr val="0D1A30"/>
          </a:solidFill>
          <a:ln w="6350">
            <a:solidFill>
              <a:srgbClr val="D4A8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8275318" y="5577840"/>
            <a:ext cx="50800" cy="96012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8376918" y="5679440"/>
            <a:ext cx="274320" cy="274320"/>
          </a:xfrm>
          <a:prstGeom prst="rect">
            <a:avLst/>
          </a:prstGeom>
          <a:solidFill>
            <a:srgbClr val="D4A843"/>
          </a:solidFill>
          <a:ln w="6350">
            <a:solidFill>
              <a:srgbClr val="D4A8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8376918" y="567944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080C14"/>
                </a:solidFill>
                <a:latin typeface="Calibri"/>
              </a:rPr>
              <a:t>15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8808718" y="5666740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Geometric Networks for Utilities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808718" y="608584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99BB"/>
                </a:solidFill>
                <a:latin typeface="Calibri"/>
              </a:rPr>
              <a:t>Building and managing geometric network models for utility systems.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0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" y="0"/>
            <a:ext cx="12079224" cy="1097280"/>
          </a:xfrm>
          <a:prstGeom prst="rect">
            <a:avLst/>
          </a:prstGeom>
          <a:solidFill>
            <a:srgbClr val="11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9728" y="1097280"/>
            <a:ext cx="12079224" cy="12700"/>
          </a:xfrm>
          <a:prstGeom prst="rect">
            <a:avLst/>
          </a:prstGeom>
          <a:solidFill>
            <a:srgbClr val="33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D4A843"/>
                </a:solidFill>
                <a:latin typeface="Calibri"/>
              </a:rPr>
              <a:t>SCHNEIDER ELECTRIC / ARCFM CERTIFICATIONS  |  6 CERTIFICATES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1148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 Light"/>
              </a:rPr>
              <a:t>ArcFM Solution Professional Training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347472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899BB"/>
                </a:solidFill>
                <a:latin typeface="Calibri"/>
              </a:rPr>
              <a:t>11 / 14</a:t>
            </a:r>
          </a:p>
        </p:txBody>
      </p:sp>
      <p:sp>
        <p:nvSpPr>
          <p:cNvPr id="9" name="Rectangle 8"/>
          <p:cNvSpPr/>
          <p:nvPr/>
        </p:nvSpPr>
        <p:spPr>
          <a:xfrm>
            <a:off x="9509760" y="137160"/>
            <a:ext cx="2468880" cy="685800"/>
          </a:xfrm>
          <a:prstGeom prst="rect">
            <a:avLst/>
          </a:prstGeom>
          <a:solidFill>
            <a:srgbClr val="0F1E38"/>
          </a:solidFill>
          <a:ln w="6350">
            <a:solidFill>
              <a:srgbClr val="3B8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0" y="256032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3B8BEB"/>
                </a:solidFill>
                <a:latin typeface="Calibri"/>
              </a:rPr>
              <a:t>SCHNEIDER ELECTRIC  |  6 CERTS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417320"/>
            <a:ext cx="5715000" cy="1554480"/>
          </a:xfrm>
          <a:prstGeom prst="rect">
            <a:avLst/>
          </a:prstGeom>
          <a:solidFill>
            <a:srgbClr val="0D1A30"/>
          </a:solidFill>
          <a:ln w="6350">
            <a:solidFill>
              <a:srgbClr val="3B8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1417320"/>
            <a:ext cx="63500" cy="1554480"/>
          </a:xfrm>
          <a:prstGeom prst="rect">
            <a:avLst/>
          </a:prstGeom>
          <a:solidFill>
            <a:srgbClr val="3B8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92760" y="1544320"/>
            <a:ext cx="384048" cy="384048"/>
          </a:xfrm>
          <a:prstGeom prst="rect">
            <a:avLst/>
          </a:prstGeom>
          <a:solidFill>
            <a:srgbClr val="3B8BEB"/>
          </a:solidFill>
          <a:ln w="6350">
            <a:solidFill>
              <a:srgbClr val="3B8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2760" y="1544320"/>
            <a:ext cx="3840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6160" y="154432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ArcFM Electric &amp; Advanced ArcFM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6160" y="2077720"/>
            <a:ext cx="5029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899BB"/>
                </a:solidFill>
                <a:latin typeface="Calibri"/>
              </a:rPr>
              <a:t>Core electric utility data model, feature editing, trace tools, and advanced ArcFM configuration for distribution network management.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2760" y="265176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3B8BEB"/>
                </a:solidFill>
                <a:latin typeface="Calibri"/>
              </a:rPr>
              <a:t>Schneider Electric / ArcFM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60" y="1417320"/>
            <a:ext cx="5715000" cy="1554480"/>
          </a:xfrm>
          <a:prstGeom prst="rect">
            <a:avLst/>
          </a:prstGeom>
          <a:solidFill>
            <a:srgbClr val="0D1A30"/>
          </a:solidFill>
          <a:ln w="6350">
            <a:solidFill>
              <a:srgbClr val="3B8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09360" y="1417320"/>
            <a:ext cx="63500" cy="1554480"/>
          </a:xfrm>
          <a:prstGeom prst="rect">
            <a:avLst/>
          </a:prstGeom>
          <a:solidFill>
            <a:srgbClr val="3B8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36360" y="1544320"/>
            <a:ext cx="384048" cy="384048"/>
          </a:xfrm>
          <a:prstGeom prst="rect">
            <a:avLst/>
          </a:prstGeom>
          <a:solidFill>
            <a:srgbClr val="3B8BEB"/>
          </a:solidFill>
          <a:ln w="6350">
            <a:solidFill>
              <a:srgbClr val="3B8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36360" y="1544320"/>
            <a:ext cx="3840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69760" y="154432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ArcFM Web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69760" y="2077720"/>
            <a:ext cx="5029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899BB"/>
                </a:solidFill>
                <a:latin typeface="Calibri"/>
              </a:rPr>
              <a:t>Browser-based GIS viewing, editing, and querying of utility network data using the ArcFM Web platform.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36360" y="265176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3B8BEB"/>
                </a:solidFill>
                <a:latin typeface="Calibri"/>
              </a:rPr>
              <a:t>Schneider Electric / ArcFM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3108960"/>
            <a:ext cx="5715000" cy="1554480"/>
          </a:xfrm>
          <a:prstGeom prst="rect">
            <a:avLst/>
          </a:prstGeom>
          <a:solidFill>
            <a:srgbClr val="0D1A30"/>
          </a:solidFill>
          <a:ln w="6350">
            <a:solidFill>
              <a:srgbClr val="3B8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65760" y="3108960"/>
            <a:ext cx="63500" cy="1554480"/>
          </a:xfrm>
          <a:prstGeom prst="rect">
            <a:avLst/>
          </a:prstGeom>
          <a:solidFill>
            <a:srgbClr val="3B8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92760" y="3235960"/>
            <a:ext cx="384048" cy="384048"/>
          </a:xfrm>
          <a:prstGeom prst="rect">
            <a:avLst/>
          </a:prstGeom>
          <a:solidFill>
            <a:srgbClr val="3B8BEB"/>
          </a:solidFill>
          <a:ln w="6350">
            <a:solidFill>
              <a:srgbClr val="3B8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92760" y="3235960"/>
            <a:ext cx="3840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6160" y="32359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ArcFM Mobile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26160" y="3769360"/>
            <a:ext cx="5029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899BB"/>
                </a:solidFill>
                <a:latin typeface="Calibri"/>
              </a:rPr>
              <a:t>Field-based data collection and inspection workflows for utility assets using ArcFM Mobile solutions.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2760" y="434340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3B8BEB"/>
                </a:solidFill>
                <a:latin typeface="Calibri"/>
              </a:rPr>
              <a:t>Schneider Electric / ArcFM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09360" y="3108960"/>
            <a:ext cx="5715000" cy="1554480"/>
          </a:xfrm>
          <a:prstGeom prst="rect">
            <a:avLst/>
          </a:prstGeom>
          <a:solidFill>
            <a:srgbClr val="0D1A30"/>
          </a:solidFill>
          <a:ln w="6350">
            <a:solidFill>
              <a:srgbClr val="3B8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309360" y="3108960"/>
            <a:ext cx="63500" cy="1554480"/>
          </a:xfrm>
          <a:prstGeom prst="rect">
            <a:avLst/>
          </a:prstGeom>
          <a:solidFill>
            <a:srgbClr val="3B8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436360" y="3235960"/>
            <a:ext cx="384048" cy="384048"/>
          </a:xfrm>
          <a:prstGeom prst="rect">
            <a:avLst/>
          </a:prstGeom>
          <a:solidFill>
            <a:srgbClr val="3B8BEB"/>
          </a:solidFill>
          <a:ln w="6350">
            <a:solidFill>
              <a:srgbClr val="3B8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36360" y="3235960"/>
            <a:ext cx="3840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69760" y="32359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ArcFM Designer Express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69760" y="3769360"/>
            <a:ext cx="5029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899BB"/>
                </a:solidFill>
                <a:latin typeface="Calibri"/>
              </a:rPr>
              <a:t>Work order and design management for distribution network construction and maintenance activities.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36360" y="434340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3B8BEB"/>
                </a:solidFill>
                <a:latin typeface="Calibri"/>
              </a:rPr>
              <a:t>Schneider Electric / ArcFM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65760" y="4800600"/>
            <a:ext cx="5715000" cy="1554480"/>
          </a:xfrm>
          <a:prstGeom prst="rect">
            <a:avLst/>
          </a:prstGeom>
          <a:solidFill>
            <a:srgbClr val="0D1A30"/>
          </a:solidFill>
          <a:ln w="6350">
            <a:solidFill>
              <a:srgbClr val="3B8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65760" y="4800600"/>
            <a:ext cx="63500" cy="1554480"/>
          </a:xfrm>
          <a:prstGeom prst="rect">
            <a:avLst/>
          </a:prstGeom>
          <a:solidFill>
            <a:srgbClr val="3B8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92760" y="4927600"/>
            <a:ext cx="384048" cy="384048"/>
          </a:xfrm>
          <a:prstGeom prst="rect">
            <a:avLst/>
          </a:prstGeom>
          <a:solidFill>
            <a:srgbClr val="3B8BEB"/>
          </a:solidFill>
          <a:ln w="6350">
            <a:solidFill>
              <a:srgbClr val="3B8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92760" y="4927600"/>
            <a:ext cx="3840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26160" y="49276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Schematic / SLD Generation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26160" y="5461000"/>
            <a:ext cx="5029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899BB"/>
                </a:solidFill>
                <a:latin typeface="Calibri"/>
              </a:rPr>
              <a:t>Automated generation and management of single-line diagrams (SLD) and network schematic views.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92760" y="603504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3B8BEB"/>
                </a:solidFill>
                <a:latin typeface="Calibri"/>
              </a:rPr>
              <a:t>Schneider Electric / ArcFM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309360" y="4800600"/>
            <a:ext cx="5715000" cy="1554480"/>
          </a:xfrm>
          <a:prstGeom prst="rect">
            <a:avLst/>
          </a:prstGeom>
          <a:solidFill>
            <a:srgbClr val="0D1A30"/>
          </a:solidFill>
          <a:ln w="6350">
            <a:solidFill>
              <a:srgbClr val="3B8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309360" y="4800600"/>
            <a:ext cx="63500" cy="1554480"/>
          </a:xfrm>
          <a:prstGeom prst="rect">
            <a:avLst/>
          </a:prstGeom>
          <a:solidFill>
            <a:srgbClr val="3B8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436360" y="4927600"/>
            <a:ext cx="384048" cy="384048"/>
          </a:xfrm>
          <a:prstGeom prst="rect">
            <a:avLst/>
          </a:prstGeom>
          <a:solidFill>
            <a:srgbClr val="3B8BEB"/>
          </a:solidFill>
          <a:ln w="6350">
            <a:solidFill>
              <a:srgbClr val="3B8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36360" y="4927600"/>
            <a:ext cx="3840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06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969760" y="49276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Integrated Document Management System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969760" y="5461000"/>
            <a:ext cx="5029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899BB"/>
                </a:solidFill>
                <a:latin typeface="Calibri"/>
              </a:rPr>
              <a:t>Linking, managing, and retrieving technical documents and engineering drawings within the GIS environment.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436360" y="603504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3B8BEB"/>
                </a:solidFill>
                <a:latin typeface="Calibri"/>
              </a:rPr>
              <a:t>Schneider Electric / ArcFM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0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" y="0"/>
            <a:ext cx="12079224" cy="1097280"/>
          </a:xfrm>
          <a:prstGeom prst="rect">
            <a:avLst/>
          </a:prstGeom>
          <a:solidFill>
            <a:srgbClr val="11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9728" y="1097280"/>
            <a:ext cx="12079224" cy="12700"/>
          </a:xfrm>
          <a:prstGeom prst="rect">
            <a:avLst/>
          </a:prstGeom>
          <a:solidFill>
            <a:srgbClr val="33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D4A843"/>
                </a:solidFill>
                <a:latin typeface="Calibri"/>
              </a:rPr>
              <a:t>PROFESSIONAL &amp; LEADERSHIP SKILLS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1148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 Light"/>
              </a:rPr>
              <a:t>Soft Skills &amp; Leadership Qualities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347472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899BB"/>
                </a:solidFill>
                <a:latin typeface="Calibri"/>
              </a:rPr>
              <a:t>12 / 14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417320"/>
            <a:ext cx="2834640" cy="1417320"/>
          </a:xfrm>
          <a:prstGeom prst="rect">
            <a:avLst/>
          </a:prstGeom>
          <a:solidFill>
            <a:srgbClr val="111D35"/>
          </a:solidFill>
          <a:ln w="6350">
            <a:solidFill>
              <a:srgbClr val="22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1527048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  <a:latin typeface="Calibri"/>
              </a:rPr>
              <a:t>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1960" y="2057400"/>
            <a:ext cx="27249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8899BB"/>
                </a:solidFill>
                <a:latin typeface="Calibri"/>
              </a:rPr>
              <a:t>Technical Leadership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37560" y="1417320"/>
            <a:ext cx="2834640" cy="1417320"/>
          </a:xfrm>
          <a:prstGeom prst="rect">
            <a:avLst/>
          </a:prstGeom>
          <a:solidFill>
            <a:srgbClr val="111D35"/>
          </a:solidFill>
          <a:ln w="6350">
            <a:solidFill>
              <a:srgbClr val="22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43400" y="1527048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  <a:latin typeface="Calibri"/>
              </a:rPr>
              <a:t>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13760" y="2057400"/>
            <a:ext cx="27249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8899BB"/>
                </a:solidFill>
                <a:latin typeface="Calibri"/>
              </a:rPr>
              <a:t>Cross-Functional Collaboration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60" y="1417320"/>
            <a:ext cx="2834640" cy="1417320"/>
          </a:xfrm>
          <a:prstGeom prst="rect">
            <a:avLst/>
          </a:prstGeom>
          <a:solidFill>
            <a:srgbClr val="111D35"/>
          </a:solidFill>
          <a:ln w="6350">
            <a:solidFill>
              <a:srgbClr val="22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0" y="1527048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  <a:latin typeface="Calibri"/>
              </a:rPr>
              <a:t>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85560" y="2057400"/>
            <a:ext cx="27249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8899BB"/>
                </a:solidFill>
                <a:latin typeface="Calibri"/>
              </a:rPr>
              <a:t>Analytical &amp; Critical Thinking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281160" y="1417320"/>
            <a:ext cx="2834640" cy="1417320"/>
          </a:xfrm>
          <a:prstGeom prst="rect">
            <a:avLst/>
          </a:prstGeom>
          <a:solidFill>
            <a:srgbClr val="111D35"/>
          </a:solidFill>
          <a:ln w="6350">
            <a:solidFill>
              <a:srgbClr val="22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287000" y="1527048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  <a:latin typeface="Calibri"/>
              </a:rPr>
              <a:t>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57360" y="2057400"/>
            <a:ext cx="27249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8899BB"/>
                </a:solidFill>
                <a:latin typeface="Calibri"/>
              </a:rPr>
              <a:t>Problem Solving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2971800"/>
            <a:ext cx="2834640" cy="1417320"/>
          </a:xfrm>
          <a:prstGeom prst="rect">
            <a:avLst/>
          </a:prstGeom>
          <a:solidFill>
            <a:srgbClr val="111D35"/>
          </a:solidFill>
          <a:ln w="6350">
            <a:solidFill>
              <a:srgbClr val="22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71600" y="3081528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  <a:latin typeface="Calibri"/>
              </a:rPr>
              <a:t>⚖️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1960" y="3611880"/>
            <a:ext cx="27249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8899BB"/>
                </a:solidFill>
                <a:latin typeface="Calibri"/>
              </a:rPr>
              <a:t>Decision Making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337560" y="2971800"/>
            <a:ext cx="2834640" cy="1417320"/>
          </a:xfrm>
          <a:prstGeom prst="rect">
            <a:avLst/>
          </a:prstGeom>
          <a:solidFill>
            <a:srgbClr val="111D35"/>
          </a:solidFill>
          <a:ln w="6350">
            <a:solidFill>
              <a:srgbClr val="22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43400" y="3081528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  <a:latin typeface="Calibri"/>
              </a:rPr>
              <a:t>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13760" y="3611880"/>
            <a:ext cx="27249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8899BB"/>
                </a:solidFill>
                <a:latin typeface="Calibri"/>
              </a:rPr>
              <a:t>Stakeholder Management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09360" y="2971800"/>
            <a:ext cx="2834640" cy="1417320"/>
          </a:xfrm>
          <a:prstGeom prst="rect">
            <a:avLst/>
          </a:prstGeom>
          <a:solidFill>
            <a:srgbClr val="111D35"/>
          </a:solidFill>
          <a:ln w="6350">
            <a:solidFill>
              <a:srgbClr val="22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0" y="3081528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  <a:latin typeface="Calibri"/>
              </a:rPr>
              <a:t>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85560" y="3611880"/>
            <a:ext cx="27249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8899BB"/>
                </a:solidFill>
                <a:latin typeface="Calibri"/>
              </a:rPr>
              <a:t>Technical Communication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281160" y="2971800"/>
            <a:ext cx="2834640" cy="1417320"/>
          </a:xfrm>
          <a:prstGeom prst="rect">
            <a:avLst/>
          </a:prstGeom>
          <a:solidFill>
            <a:srgbClr val="111D35"/>
          </a:solidFill>
          <a:ln w="6350">
            <a:solidFill>
              <a:srgbClr val="22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287000" y="3081528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  <a:latin typeface="Calibri"/>
              </a:rPr>
              <a:t>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57360" y="3611880"/>
            <a:ext cx="27249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8899BB"/>
                </a:solidFill>
                <a:latin typeface="Calibri"/>
              </a:rPr>
              <a:t>Presentation &amp; Training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4526280"/>
            <a:ext cx="2834640" cy="1417320"/>
          </a:xfrm>
          <a:prstGeom prst="rect">
            <a:avLst/>
          </a:prstGeom>
          <a:solidFill>
            <a:srgbClr val="111D35"/>
          </a:solidFill>
          <a:ln w="6350">
            <a:solidFill>
              <a:srgbClr val="22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371600" y="4636008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  <a:latin typeface="Calibri"/>
              </a:rPr>
              <a:t>📋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1960" y="5166360"/>
            <a:ext cx="27249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8899BB"/>
                </a:solidFill>
                <a:latin typeface="Calibri"/>
              </a:rPr>
              <a:t>Project Coordination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337560" y="4526280"/>
            <a:ext cx="2834640" cy="1417320"/>
          </a:xfrm>
          <a:prstGeom prst="rect">
            <a:avLst/>
          </a:prstGeom>
          <a:solidFill>
            <a:srgbClr val="111D35"/>
          </a:solidFill>
          <a:ln w="6350">
            <a:solidFill>
              <a:srgbClr val="22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343400" y="4636008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  <a:latin typeface="Calibri"/>
              </a:rPr>
              <a:t>🎯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413760" y="5166360"/>
            <a:ext cx="27249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8899BB"/>
                </a:solidFill>
                <a:latin typeface="Calibri"/>
              </a:rPr>
              <a:t>Strategic Planning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09360" y="4526280"/>
            <a:ext cx="2834640" cy="1417320"/>
          </a:xfrm>
          <a:prstGeom prst="rect">
            <a:avLst/>
          </a:prstGeom>
          <a:solidFill>
            <a:srgbClr val="111D35"/>
          </a:solidFill>
          <a:ln w="6350">
            <a:solidFill>
              <a:srgbClr val="22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15200" y="4636008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  <a:latin typeface="Calibri"/>
              </a:rPr>
              <a:t>✅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85560" y="5166360"/>
            <a:ext cx="27249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8899BB"/>
                </a:solidFill>
                <a:latin typeface="Calibri"/>
              </a:rPr>
              <a:t>Quality Management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281160" y="4526280"/>
            <a:ext cx="2834640" cy="1417320"/>
          </a:xfrm>
          <a:prstGeom prst="rect">
            <a:avLst/>
          </a:prstGeom>
          <a:solidFill>
            <a:srgbClr val="111D35"/>
          </a:solidFill>
          <a:ln w="6350">
            <a:solidFill>
              <a:srgbClr val="22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287000" y="4636008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  <a:latin typeface="Calibri"/>
              </a:rPr>
              <a:t>🔄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57360" y="5166360"/>
            <a:ext cx="27249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8899BB"/>
                </a:solidFill>
                <a:latin typeface="Calibri"/>
              </a:rPr>
              <a:t>Continuous Improvement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0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731520"/>
            <a:ext cx="121889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D4A843"/>
                </a:solidFill>
                <a:latin typeface="Calibri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  <a:latin typeface="Calibri Light"/>
              </a:rPr>
              <a:t>Ready to  Contribute  &amp;  Deliver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286000"/>
            <a:ext cx="9418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8899BB"/>
                </a:solidFill>
                <a:latin typeface="Calibri"/>
              </a:rPr>
              <a:t>18+ years of proven expertise in Power GIS, SCADA/ADMS, and digital utility engineering
— ready to bring value from day one.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0" y="3063240"/>
            <a:ext cx="2103120" cy="254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3291840"/>
            <a:ext cx="2560320" cy="548640"/>
          </a:xfrm>
          <a:prstGeom prst="rect">
            <a:avLst/>
          </a:prstGeom>
          <a:solidFill>
            <a:srgbClr val="111D35"/>
          </a:solidFill>
          <a:ln w="6350">
            <a:solidFill>
              <a:srgbClr val="22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24560" y="339344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EF2FF"/>
                </a:solidFill>
                <a:latin typeface="Calibri"/>
              </a:rPr>
              <a:t>📧  eslam.azeema2010@gmail.com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20440" y="3291840"/>
            <a:ext cx="2560320" cy="548640"/>
          </a:xfrm>
          <a:prstGeom prst="rect">
            <a:avLst/>
          </a:prstGeom>
          <a:solidFill>
            <a:srgbClr val="111D35"/>
          </a:solidFill>
          <a:ln w="6350">
            <a:solidFill>
              <a:srgbClr val="22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22040" y="339344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EF2FF"/>
                </a:solidFill>
                <a:latin typeface="Calibri"/>
              </a:rPr>
              <a:t>📱  +20 122 969 5834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3291840"/>
            <a:ext cx="2560320" cy="548640"/>
          </a:xfrm>
          <a:prstGeom prst="rect">
            <a:avLst/>
          </a:prstGeom>
          <a:solidFill>
            <a:srgbClr val="111D35"/>
          </a:solidFill>
          <a:ln w="6350">
            <a:solidFill>
              <a:srgbClr val="22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19520" y="339344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EF2FF"/>
                </a:solidFill>
                <a:latin typeface="Calibri"/>
              </a:rPr>
              <a:t>📍  Alexandria, Egypt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915400" y="3291840"/>
            <a:ext cx="2560320" cy="548640"/>
          </a:xfrm>
          <a:prstGeom prst="rect">
            <a:avLst/>
          </a:prstGeom>
          <a:solidFill>
            <a:srgbClr val="111D35"/>
          </a:solidFill>
          <a:ln w="6350">
            <a:solidFill>
              <a:srgbClr val="22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17000" y="339344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EF2FF"/>
                </a:solidFill>
                <a:latin typeface="Calibri"/>
              </a:rPr>
              <a:t>🔗  linkedin.com/in/eslam-abdelazeem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645920" y="4160520"/>
            <a:ext cx="2926080" cy="411480"/>
          </a:xfrm>
          <a:prstGeom prst="rect">
            <a:avLst/>
          </a:prstGeom>
          <a:solidFill>
            <a:srgbClr val="111D35"/>
          </a:solidFill>
          <a:ln w="6350">
            <a:solidFill>
              <a:srgbClr val="D4A8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722120" y="4236720"/>
            <a:ext cx="2773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D4A843"/>
                </a:solidFill>
                <a:latin typeface="Calibri"/>
              </a:rPr>
              <a:t>B.Sc. Computer &amp; Systems Engineering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709160" y="4160520"/>
            <a:ext cx="2926080" cy="411480"/>
          </a:xfrm>
          <a:prstGeom prst="rect">
            <a:avLst/>
          </a:prstGeom>
          <a:solidFill>
            <a:srgbClr val="111D35"/>
          </a:solidFill>
          <a:ln w="6350">
            <a:solidFill>
              <a:srgbClr val="3B8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85360" y="4236720"/>
            <a:ext cx="2773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3B8BEB"/>
                </a:solidFill>
                <a:latin typeface="Calibri"/>
              </a:rPr>
              <a:t>18+ Years — EEHC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0" y="4160520"/>
            <a:ext cx="2926080" cy="411480"/>
          </a:xfrm>
          <a:prstGeom prst="rect">
            <a:avLst/>
          </a:prstGeom>
          <a:solidFill>
            <a:srgbClr val="111D35"/>
          </a:solidFill>
          <a:ln w="6350">
            <a:solidFill>
              <a:srgbClr val="2DD4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48600" y="4236720"/>
            <a:ext cx="2773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2DD48A"/>
                </a:solidFill>
                <a:latin typeface="Calibri"/>
              </a:rPr>
              <a:t>30+ Certifications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