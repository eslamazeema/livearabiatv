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CANDIDACY PRESENTATION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ESLAM ABDELAZEEM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43"/>
                </a:solidFill>
                <a:latin typeface="Calibri Light"/>
              </a:rPr>
              <a:t>ABDELSTAR AZAM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E8"/>
                </a:solidFill>
                <a:latin typeface="Calibri"/>
              </a:rPr>
              <a:t>Senior Software, GIS &amp; Digital Utility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10972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18+ years bridging electrical engineering, geospatial technology,
SCADA/ADMS, smart grid, and digital transformation across Egypt's
national electricity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Power 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3288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SCADA / ADMS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6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4616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Smart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5944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Digital Utility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7272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ArcGIS / ArcFM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12700" cy="68580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09728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2344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18+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Years of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56032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697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6+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337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Control Centers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02336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41605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30+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Esri / ArcFM Certifications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Who I Am &amp; What I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0800" cy="8686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20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Senior Software, GIS &amp; Digital Utility Engineer with 18+ years of experience spanning electrical distribution networks, GIS, SCADA/ADMS, smart grid technologies, digital transformation, control center operations, and utility information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0800" cy="868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62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Proven ability to bridge electrical engineering, geospatial technology, operational systems, software development, and data analytics to deliver practical solutions for electricity utilities. Experienced in Python/VBA GIS automation, enterprise geodatabases, KPI monitoring frameworks, and system integration, testing, and commissioning.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0800" cy="8686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22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Strong international project exposure with Schneider Electric, Siemens, General Electric, and Esri — including FAT/SAT, smart grid deployments, and national control center programs across Egypt.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2505456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560" y="4323080"/>
            <a:ext cx="240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GIS–SCADA/ADMS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80944" y="4297680"/>
            <a:ext cx="2176272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1744" y="4323080"/>
            <a:ext cx="207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Digital Command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4297680"/>
            <a:ext cx="1188719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7744" y="4323080"/>
            <a:ext cx="108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Smart Grid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1" y="4297680"/>
            <a:ext cx="2176272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6191" y="4323080"/>
            <a:ext cx="207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Enterprise Geodatabase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1" y="4297680"/>
            <a:ext cx="1600200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2191" y="4323080"/>
            <a:ext cx="149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KPI &amp;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19" y="4297680"/>
            <a:ext cx="2258568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2119" y="4323080"/>
            <a:ext cx="215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FAT / SAT Commissioning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ACADEMIC QUALIFICATIONS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30000" cy="15544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 Light"/>
              </a:rPr>
              <a:t>Bachelor of Science in Computer &amp; Systems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745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E8"/>
                </a:solidFill>
                <a:latin typeface="Calibri"/>
              </a:rPr>
              <a:t>Faculty of Engineering — Al-Azhar University, Cairo  |  2002 – 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Graduation Project: Electronic Dictionary  ·  Grade: 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CORE ENGINEERING FOUNDATIONS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Electrical Systems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Computer &amp; Software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4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6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Database &amp; Information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Network &amp; Infrastructure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8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Systems Analysis &amp; Design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Data Structures &amp;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Egyptian Electricity Holding Company (EEHC)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E8"/>
                </a:solidFill>
                <a:latin typeface="Calibri"/>
              </a:rPr>
              <a:t>2024 –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17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Digital Command Center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508760"/>
            <a:ext cx="25400" cy="11887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392" y="1527048"/>
            <a:ext cx="114300" cy="1143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8648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801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Monitor &amp; analyze operational/performance indicators for distribution companies across Egypt via the National Digital Command Center.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391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075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 and maintain KPI monitoring frameworks, dashboards, analytical reports &amp; performance indicators.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135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350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Analyze operational, technical, and commercial data to identify trends and improvement opportunities.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8782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624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Support enterprise-wide digital transformation through data integration, visualization &amp; automated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81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2021 –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0815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Senior Power GIS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172968"/>
            <a:ext cx="254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93392" y="3191256"/>
            <a:ext cx="114300" cy="114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352907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4655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Led GIS enterprise system design, data migration, and quality assurance for national distribution control center projects.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80339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7398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GIS–SCADA/ADMS integration, network model development, and end-to-end system commissioning.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07771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0142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Developed GIS automation workflows and supervised FAT &amp; SAT activities for multiple control centers.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35203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42885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Coordinated with Schneider Electric, Siemens, and GE for system implementation and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GIS Engineering &amp; Operations (2008–2021)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2015 –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17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GIS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508760"/>
            <a:ext cx="254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392" y="1527048"/>
            <a:ext cx="114300" cy="114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8648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801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Developed GIS automation tools using Python and VBA, improving data-processing efficiency.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391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075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and maintained geospatial databases of electrical distribution network assets.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135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350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Implemented GIS workflows, data validation, and enterprise geodatabase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8782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624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Contributed to GIS–SCADA/ADMS integration and control center modernization initiatives.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BEB"/>
                </a:solidFill>
                <a:latin typeface="Calibri"/>
              </a:rPr>
              <a:t>2011 – 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0632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154680"/>
            <a:ext cx="25400" cy="6400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93392" y="3172968"/>
            <a:ext cx="114300" cy="1143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35107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4472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day-to-day operation of electrical distribution networks and control room activities.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7851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721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Planned switching operations, outage management, emergency response &amp; restoration.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8A"/>
                </a:solidFill>
                <a:latin typeface="Calibri"/>
              </a:rPr>
              <a:t>2008 – 2011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60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Electrical Engineer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4251960"/>
            <a:ext cx="25400" cy="6400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270248"/>
            <a:ext cx="114300" cy="1143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6080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544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Supported operation, maintenance, and development of electrical distribution networks.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48823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4818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Participated in network improvement initiatives and utility modernization projects.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E8"/>
                </a:solidFill>
                <a:latin typeface="Calibri"/>
              </a:rPr>
              <a:t>2009 – 2015  (Part-Time)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257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 Developer  —  City Light Construction &amp; Development Company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5705348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5641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Designed, developed, and maintained websites using PHP and MySQL.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5979668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5916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Designed relational database structures and implemented CMS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MAJOR PROJECTS &amp; INTERNATIONAL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Key Deployments &amp;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50800" cy="1463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760" y="151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  <a:latin typeface="Calibri"/>
              </a:rPr>
              <a:t>National Digital 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760" y="1925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Performance monitoring &amp; analytics for distribution companies nationwide (EEHC).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0800" cy="14630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9200" y="151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843"/>
                </a:solidFill>
                <a:latin typeface="Calibri"/>
              </a:rPr>
              <a:t>Distribution Control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925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GIS data prep, integration, testing, validation &amp; commissioning for 6 control centers across Egypt.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50800" cy="146304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760" y="316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A"/>
                </a:solidFill>
                <a:latin typeface="Calibri"/>
              </a:rPr>
              <a:t>JICA / Siemens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760" y="3571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FAT activities for North Delta Distribution Company — collaboration with JICA and Siemens, Germany.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063240"/>
            <a:ext cx="50800" cy="146304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9200" y="316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BEB"/>
                </a:solidFill>
                <a:latin typeface="Calibri"/>
              </a:rPr>
              <a:t>GIS–ADMS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571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Specialized training &amp; delivery with Schneider Electric (Dubai) and GE SCADA/ADMS knowledge transfer.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0800" cy="1463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760" y="4810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  <a:latin typeface="Calibri"/>
              </a:rPr>
              <a:t>Smart Grid Field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760" y="5217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Supervised Smart RMU and RTU installations as part of national smart grid modernization programs.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70916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709160"/>
            <a:ext cx="50800" cy="146304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9200" y="4810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9BB"/>
                </a:solidFill>
                <a:latin typeface="Calibri"/>
              </a:rPr>
              <a:t>Web Development (Part-Time)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5217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PHP/MySQL web applications, CMS solutions &amp; database design for City Light (2009–2015).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CORE COMPETENCIES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Areas of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Utility GIS &amp; Geospatial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37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Electrical Distribution Networks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5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SCADA / ADMS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73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GIS–SCADA/ADMS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Smart Grid &amp; Digital Utility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37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Digital Command &amp; Control Centers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55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ArcGIS Enterprise &amp; ArcFM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73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GIS Data Management &amp;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9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Python &amp; VBA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7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KPI &amp; Performance Monitoring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55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FAT, SAT &amp; Commissioning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73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Vendor &amp; Stakeholder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TECHNICAL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Technology Stack &amp;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GIS &amp; UTILITY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283464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160" y="18465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60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ArcGIS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160" y="212090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160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ArcFM 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160" y="239522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60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Enterprise Geodatabases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160" y="266954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60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GIS–ADMS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160" y="294386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60" y="28803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Utility Network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160" y="32181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60" y="31546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Smart Grid 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E8"/>
                </a:solidFill>
                <a:latin typeface="Calibri"/>
              </a:rPr>
              <a:t>PROGRAMMING &amp; AUTOMATION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1691640"/>
            <a:ext cx="283464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0392" y="18465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7392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0392" y="21209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7392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VBA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0392" y="23952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7392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C#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0392" y="266954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7392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PHP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0392" y="294386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7392" y="28803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JavaScript / jQuery / AJAX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0392" y="32181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7392" y="31546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HTML / 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0392" y="34925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7392" y="34290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Visual Basic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BEB"/>
                </a:solidFill>
                <a:latin typeface="Calibri"/>
              </a:rPr>
              <a:t>DATABASES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64224" y="1691640"/>
            <a:ext cx="2834640" cy="127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89624" y="184658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624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SQL Server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9624" y="212090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6624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Oracle Database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9624" y="239522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6624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MySQL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9624" y="266954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6624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8A"/>
                </a:solidFill>
                <a:latin typeface="Calibri"/>
              </a:rPr>
              <a:t>OPERATING SYSTEMS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3456" y="1691640"/>
            <a:ext cx="2834640" cy="127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88856" y="184658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5856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Windows Server &amp; Desktop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88856" y="212090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5856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Linux / Ubuntu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88856" y="239522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15856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Unix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E8"/>
                </a:solidFill>
                <a:latin typeface="Calibri"/>
              </a:rPr>
              <a:t>WEB &amp; CMS TECHNOLOGIES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434840"/>
            <a:ext cx="283464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1160" y="45897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160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WordPress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1160" y="48641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160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Joomla / Drupal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1160" y="51384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8160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OpenCart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4992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NETWORKING &amp; INFRASTRUCTURE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64992" y="4434840"/>
            <a:ext cx="283464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90392" y="45897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17392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FortiGate Infrastructure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90392" y="486410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17392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FortiADC Load Balancer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4224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BEB"/>
                </a:solidFill>
                <a:latin typeface="Calibri"/>
              </a:rPr>
              <a:t>DEV &amp; ANALYSIS TOOLS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64224" y="4434840"/>
            <a:ext cx="2834640" cy="127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89624" y="458978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16624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Visual Studio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89624" y="486410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16624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Visual Studio Code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89624" y="513842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6624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PyCharm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89624" y="541274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6624" y="53492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Jupyter Notebook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63456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8A"/>
                </a:solidFill>
                <a:latin typeface="Calibri"/>
              </a:rPr>
              <a:t>MICROSOFT OFFICE SUITE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63456" y="4434840"/>
            <a:ext cx="2834640" cy="127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388856" y="458978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15856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Word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88856" y="486410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15856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Excel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88856" y="513842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15856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PowerPoint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88856" y="541274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15856" y="53492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CERTIFICATIONS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Esri / ArcGIS Certifications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ESRI / ARCGIS —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66928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160" y="1846580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560" y="17830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ArcGIS Essential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160" y="2148332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560" y="2084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Performing Analysis with ArcGIS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160" y="2450084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560" y="23865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Sharing Content on the 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160" y="2751836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560" y="26883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ArcGIS Server Site Configuration &amp; Administration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160" y="3053588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560" y="2990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Building Geodatabases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160" y="3355340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560" y="3291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Multiuser Geodatabase Deployment &amp;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160" y="3657092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560" y="3593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Designing Maps with ArcGIS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ESRI / ARCGIS — ADVANCED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691640"/>
            <a:ext cx="566928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4760" y="1846580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7160" y="17830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Geodatabase Replication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4760" y="2148332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7160" y="2084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Data Editing with ArcGIS Desktop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4760" y="2450084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160" y="23865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Field Data Collection &amp;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4760" y="2751836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160" y="26883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Versioned Workflows Implementation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4760" y="3053588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7160" y="2990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Data Reviewer for Data 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4760" y="3355340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160" y="3291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ArcGIS Schematics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4760" y="3657092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7160" y="3593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CAD Data Integration with ArcGIS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4760" y="3958844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7160" y="38953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Geometric Networks for Utilities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CERTIFICATIONS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ArcFM, Networking &amp; Additional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669280" cy="127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160" y="184658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560" y="178308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ArcFM Electric &amp; Advanced ArcFM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160" y="212090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560" y="205740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ArcFM 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160" y="239522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560" y="233172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ArcFM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160" y="266954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560" y="260604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ArcFM Designer Express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160" y="294386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560" y="288036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Schematic / SLD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160" y="3218180"/>
            <a:ext cx="88900" cy="889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560" y="315468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Integrated Document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E8"/>
                </a:solidFill>
                <a:latin typeface="Calibri"/>
              </a:rPr>
              <a:t>NETWORKING &amp;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691640"/>
            <a:ext cx="566928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0480" y="1846580"/>
            <a:ext cx="88900" cy="889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2880" y="178308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FortiGate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0480" y="2120900"/>
            <a:ext cx="88900" cy="889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2880" y="2057400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FortiADC Load Balancer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776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IT &amp; SOFTWARE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51959"/>
            <a:ext cx="566928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1160" y="4406899"/>
            <a:ext cx="88900" cy="88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560" y="4343399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Web Development — PHP &amp; MySQL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1160" y="4681219"/>
            <a:ext cx="88900" cy="88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560" y="4617719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E-Commerce &amp; E-Marketing — Cairo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9776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8A"/>
                </a:solidFill>
                <a:latin typeface="Calibri"/>
              </a:rPr>
              <a:t>LANGUAGE &amp; INDUSTRY 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251959"/>
            <a:ext cx="5669280" cy="127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0480" y="4406899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2880" y="4343399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English Diploma — British Academy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0480" y="4681219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2880" y="4617719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SCADA/ADMS Training — General Electric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0480" y="4955539"/>
            <a:ext cx="88900" cy="889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2880" y="4892039"/>
            <a:ext cx="549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GIS–ADMS Integration Training — Schneider Electric (Dubai)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&amp; LEADERSHIP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Soft Skills &amp; Leadership Qualities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Technical Leadership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37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Cross-Functional Collaboration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5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Analytical &amp; Critical Thinking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73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Problem Solving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Decision Making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37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Stakeholder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55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Technical Communication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73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Presentation &amp; 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9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Project Coordination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7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Strategic Planning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55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Quality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73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Continuous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843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Ready to  Contribute  &amp; 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  <a:latin typeface="Calibri"/>
              </a:rPr>
              <a:t>18+ years of proven expertise in Power GIS, SCADA/ADMS, and digital utility engineering
— ready to bring value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063240"/>
            <a:ext cx="210312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56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📧  eslam.azeema2010@gmail.com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204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📱  +20 122 969 5834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952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📍  Alexandria, Egypt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🔗  linkedin.com/in/eslam-abdelazeem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212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4A843"/>
                </a:solidFill>
                <a:latin typeface="Calibri"/>
              </a:rPr>
              <a:t>B.Sc. Computer &amp; Systems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536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B8BEB"/>
                </a:solidFill>
                <a:latin typeface="Calibri"/>
              </a:rPr>
              <a:t>18+ Years — EEHC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860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DD48A"/>
                </a:solidFill>
                <a:latin typeface="Calibri"/>
              </a:rPr>
              <a:t>30+ Certifications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